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1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0:00 - 1:00 | 1 Minute]</a:t>
            </a:r>
          </a:p>
          <a:p>
            <a:r>
              <a:t>• Einstiegs-Hook &amp; Eisbrecher: „Wer von euch hat auf seinem Rechner einen Ordner namens 'models', der größer ist als der Rest des Betriebssystems?“</a:t>
            </a:r>
          </a:p>
          <a:p>
            <a:r>
              <a:t>• Ziel des Talks: In 20 Minuten klären wir, warum 90% aller internen Tools und Hintergrundprozesse auf Standard-Hardware blitzschnell laufen können – ohne Cloud-Kosten und ohne Ollama-Overhead.</a:t>
            </a:r>
          </a:p>
          <a:p>
            <a:r>
              <a:t>• Gliederung kurz anreißen: Landschaft → Modellauswahl &amp; Benchmarks → Quantisierung → Quellen &amp; Setup → Live-Demo.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1:00 - 2:30 | 1.5 Minuten]</a:t>
            </a:r>
          </a:p>
          <a:p>
            <a:r>
              <a:t>• Die zwei Lager erklären:</a:t>
            </a:r>
          </a:p>
          <a:p>
            <a:r>
              <a:t>  - Links (Ollama, llama.cpp): Dynamisch. Startet in 1 Sekunde, belegt nur das Nötigste, blockiert Hardware nicht dauerhaft.</a:t>
            </a:r>
          </a:p>
          <a:p>
            <a:r>
              <a:t>  - Rechts (vLLM, SGLang): Pre-allocated. Belegt sofort 90% VRAM für PagedAttention / RadixAttention, um Hunderte parallele Nutzer zu bedienen.</a:t>
            </a:r>
          </a:p>
          <a:p>
            <a:r>
              <a:t>• K-Transformers als Sonderrolle: Hält MoE-Gewichte (z. B. DeepSeek) im normalen DDR5-System-RAM, Attention auf GPU.</a:t>
            </a:r>
          </a:p>
          <a:p>
            <a:r>
              <a:t>• Kernaussage: Vergleicht Äpfel mit Äpfeln – llama.cpp und vLLM haben völlig unterschiedliche Zielarchitekturen!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2:30 - 4:00 | 1.5 Minuten]</a:t>
            </a:r>
          </a:p>
          <a:p>
            <a:r>
              <a:t>• Zur Kritik an Ollama: Wir verteufeln es nicht für Hobbyisten, aber in Production wollen wir keine unberechenbaren Daemon-Timeouts oder versteckte Kontext-Limits.</a:t>
            </a:r>
          </a:p>
          <a:p>
            <a:r>
              <a:t>• Wann llama.cpp in Production? Genau deine drei Kriterien: Single-Stream, CPU/Edge, und vor allem die RIESIGE Masse an einfachen internen Tools.</a:t>
            </a:r>
          </a:p>
          <a:p>
            <a:r>
              <a:t>• Gamification / Publikums-Gag beim Bell-Curve-Meme: „Wer hat schon mal nachts um 2 Uhr nach gebrauchten RTX 3090 auf eBay gesucht?“</a:t>
            </a:r>
          </a:p>
          <a:p>
            <a:r>
              <a:t>• Erwähnung: Pocket AI Lab (iOS) und LM Playground (Android).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4:00 - 4:45 | 45 Sekunden]</a:t>
            </a:r>
          </a:p>
          <a:p>
            <a:r>
              <a:t>• Publikumsinteraktion:</a:t>
            </a:r>
          </a:p>
          <a:p>
            <a:r>
              <a:t>  - „Hand aufs Herz: Wer von euch war bei ChatGPT 3.5 oder GPT-4 dabei?“ (Kurz Hände zählen).</a:t>
            </a:r>
          </a:p>
          <a:p>
            <a:r>
              <a:t>  - „Und wer nutzt heute aktiv Claude – Sonnet oder Opus?“ (Hände zählen).</a:t>
            </a:r>
          </a:p>
          <a:p>
            <a:r>
              <a:t>• Storytelling: „Erinnert euch, wie baff wir alle waren, als GPT-4 das Bar-Exam bestand oder Claude 3 Code schrieb. Wir dachten: Das geht nur in gigantischen Microsoft- oder AWS-Rechenzentren.“</a:t>
            </a:r>
          </a:p>
          <a:p>
            <a:r>
              <a:t>• Überleitung: „Schauen wir uns an, wo die Modelle eures Einstiegs heute stehen – zuerst ChatGPT, dann Claude, und dann die Open-Weights-Realität!“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4:45 - 5:30 | 45 Sekunden]</a:t>
            </a:r>
          </a:p>
          <a:p>
            <a:r>
              <a:t>• Auf die Säulen zeigen:</a:t>
            </a:r>
          </a:p>
          <a:p>
            <a:r>
              <a:t>  - GPT-4o (Mar): Steht bei Score 9! Dieser weltweite Standard von 2024 ist heute der unterste Balken der Grafik!</a:t>
            </a:r>
          </a:p>
          <a:p>
            <a:r>
              <a:t>  - GPT-4.1: Score 13.</a:t>
            </a:r>
          </a:p>
          <a:p>
            <a:r>
              <a:t>  - GPT-5 (high): Score 23.</a:t>
            </a:r>
          </a:p>
          <a:p>
            <a:r>
              <a:t>  - GPT-5.2 (xhigh): Score 30.</a:t>
            </a:r>
          </a:p>
          <a:p>
            <a:r>
              <a:t>  - GPT-5.5 (xhigh): Score 38.</a:t>
            </a:r>
          </a:p>
          <a:p>
            <a:r>
              <a:t>  - GPT-6 Astra: Score 53.</a:t>
            </a:r>
          </a:p>
          <a:p>
            <a:r>
              <a:t>• Kernaussage: „Behaltet diesen Score von 9 (GPT-4o) und 30 (GPT-5.2) im Kopf. Genau hier passiert jetzt das Unglaubliche.“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5:30 - 6:15 | 45 Sekunden]</a:t>
            </a:r>
          </a:p>
          <a:p>
            <a:r>
              <a:t>• Für die Claude-Fraktion:</a:t>
            </a:r>
          </a:p>
          <a:p>
            <a:r>
              <a:t>  - Claude 3 Opus: Steht ebenfalls bei Score 9! Genau dort, wo GPT-4o steht.</a:t>
            </a:r>
          </a:p>
          <a:p>
            <a:r>
              <a:t>  - Claude 4 Opus: Score 21.</a:t>
            </a:r>
          </a:p>
          <a:p>
            <a:r>
              <a:t>  - Claude Opus 4.5: Score 29.</a:t>
            </a:r>
          </a:p>
          <a:p>
            <a:r>
              <a:t>  - Claude Opus 4.6: Score 32.</a:t>
            </a:r>
          </a:p>
          <a:p>
            <a:r>
              <a:t>  - Claude Opus 5.5: Score 58 (Spitzenreiter).</a:t>
            </a:r>
          </a:p>
          <a:p>
            <a:r>
              <a:t>• Der Cliffhanger: „Opus 4.6 bei Score 32 ist ein absolutes Coding-Biest. Wie nah kommen wir daran ran, wenn wir KEIN Geld für Anthropic-Tokens zahlen wollen?“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6:15 - 7:15 | 1 Minute]</a:t>
            </a:r>
          </a:p>
          <a:p>
            <a:r>
              <a:t>• Die Sensation aufdecken:</a:t>
            </a:r>
          </a:p>
          <a:p>
            <a:r>
              <a:t>  - Qwen 3.8 Flash-Next: Score 40! Schlägt GPT-5.5 (Score 38) und deklassiert Opus 4.6 (Score 32)!</a:t>
            </a:r>
          </a:p>
          <a:p>
            <a:r>
              <a:t>  - Qwen 3.8 27B: Score 34! Läuft quantisiert auf einer einzigen RTX 4090 oder einem MacBook Pro mit 32 GB RAM – und schlägt Claude Opus 4.6!</a:t>
            </a:r>
          </a:p>
          <a:p>
            <a:r>
              <a:t>  - Gemma 4 E4B: Score 9! Ein kompaktes 4B-Modell erreicht das Niveau von GPT-4o und Claude 3 Opus – und bringt native Audio- &amp; Bildverarbeitung mit!</a:t>
            </a:r>
          </a:p>
          <a:p>
            <a:r>
              <a:t>• Zu den gelben Pfeilen (Ehrlichkeit):</a:t>
            </a:r>
          </a:p>
          <a:p>
            <a:r>
              <a:t>  - K2 Horizon MoVA (Score 25): Spannendes Modell, aber die llama.cpp Architekturunterstützung ist noch ganz frisch/unausgereift.</a:t>
            </a:r>
          </a:p>
          <a:p>
            <a:r>
              <a:t>  - Nemotron 3.5 Lightning (Score 13): Qualität eher mittelmäßig ('meh'), aber ALLES ist offengelegt – 100% transparente Trainingsdaten für Enterprise-Compliance!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7:15 - 8:30 | 1 Minute 15 Sek]</a:t>
            </a:r>
          </a:p>
          <a:p>
            <a:r>
              <a:t>• Das ist die Orientierungsfolie für die Praxis:</a:t>
            </a:r>
          </a:p>
          <a:p>
            <a:r>
              <a:t>  - Wer Coding &amp; Reasoning will: Qwen 3.8 (Flash-Next oder 27B in Q4_K_M).</a:t>
            </a:r>
          </a:p>
          <a:p>
            <a:r>
              <a:t>  - Wer Audio UND Bilder verarbeiten will: Google Gemma 4 (E4B schlägt GPT-4o, 12B schlägt GPT-4.1).</a:t>
            </a:r>
          </a:p>
          <a:p>
            <a:r>
              <a:t>  - Wer minimale Ressourcen hat (Laptop/Handy): Liquid AI LFM 2.5.</a:t>
            </a:r>
          </a:p>
          <a:p>
            <a:r>
              <a:t>  - Wer Firmen-Compliance &amp; offene Daten braucht: Nvidia Nemotron 3.5 Lightning.</a:t>
            </a:r>
          </a:p>
          <a:p>
            <a:r>
              <a:t>  - Vorbehalt bei K2 Horizon: Warten, bis der llama.cpp Main-Branch die MoVA-Architektur voll ausgereift unterstützt.</a:t>
            </a:r>
          </a:p>
          <a:p>
            <a:r>
              <a:t>• Überleitung: „Jetzt wissen wir, WELCHE Modelle wir wollen. Aber in welchem Format laden wir sie herunter? Willkommen bei GGUF!“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8:30 - 9:45 | 1 Minute 15 Sek]</a:t>
            </a:r>
          </a:p>
          <a:p>
            <a:r>
              <a:t>• Erklären, was GGUF ausmacht: Kein Abhängigkeiten-Chaos mehr. Eine Datei reicht.</a:t>
            </a:r>
          </a:p>
          <a:p>
            <a:r>
              <a:t>• Community-Anekdote zu den Memes: Sobald Meta, Mistral oder Qwen neue Gewichte veröffentlichen, fluten innerhalb von 5 Minuten Kommentare wie „WEN GGUF?“ HuggingFace.</a:t>
            </a:r>
          </a:p>
          <a:p>
            <a:r>
              <a:t>• Warum? Weil erst mit GGUF 95% der Entwickler das Modell überhaupt auf ihren Laptops oder Workstations ausführen können!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9:45 - 11:15 | 1.5 Minuten]</a:t>
            </a:r>
          </a:p>
          <a:p>
            <a:r>
              <a:t>• Die wissenschaftliche Botschaft: Q8 statt F16 ist ein Geschenk. Es gibt keinen Grund für F16.</a:t>
            </a:r>
          </a:p>
          <a:p>
            <a:r>
              <a:t>• Krumme Bits (5-Bit, 6-Bit): Erklären, dass Hardware nativ in 4, 8, 16 Bit rechnet. 5/6 Bit kosten Rechenzeit beim Entpacken.</a:t>
            </a:r>
          </a:p>
          <a:p>
            <a:r>
              <a:t>• Memes rechts aufgreifen:</a:t>
            </a:r>
          </a:p>
          <a:p>
            <a:r>
              <a:t>  - Oben das Unsloth-Meme: Große Freude, als Daniel Han-Chen GLM-4.6 als GGUF bringt – und dann der Schock: Q8_0 hat 379 GB!</a:t>
            </a:r>
          </a:p>
          <a:p>
            <a:r>
              <a:t>  - Unten der Spanier (El Risitas): „It's smaller they said, it's optimized they said!“ – wenn Leute versuchen, 70B in 2-Bit zu quetschen und nur noch Müll rauskommt.</a:t>
            </a:r>
          </a:p>
          <a:p>
            <a:r>
              <a:t>• DIE GOLDENE REGEL betonen: Mehr Parameter bei 4-Bit schlägt weniger Parameter bei 8-Bit!</a:t>
            </a:r>
          </a:p>
          <a:p>
            <a:r>
              <a:t>• Überleitung: Wer ist eigentlich dieser 'danielhanchen' von Unsloth – und wo holt man sich GGUFs am besten?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11:15 - 12:30 | 1 Minute 15 Sek]</a:t>
            </a:r>
          </a:p>
          <a:p>
            <a:r>
              <a:t>• Die beiden wichtigsten HuggingFace-Quellen vorstellen:</a:t>
            </a:r>
          </a:p>
          <a:p>
            <a:r>
              <a:t>  - Unsloth (Daniel &amp; Michael Han-Chen): Der Platzhirsch. Extrem schnell, saubere Dynamic Quants.</a:t>
            </a:r>
          </a:p>
          <a:p>
            <a:r>
              <a:t>  - AesSedai: Der Underdog! Aussprache erklären: [Eis Se-dai] wie die Magierinnen aus 'Wheel of Time'.</a:t>
            </a:r>
          </a:p>
          <a:p>
            <a:r>
              <a:t>• Das Geheimnis von AesSedai betonen:</a:t>
            </a:r>
          </a:p>
          <a:p>
            <a:r>
              <a:t>  - Bei Vision-Modellen (Llama-Vision, Qwen-VL) liegt der Flaschenhals oft am Vision Projector (`mmproj`).</a:t>
            </a:r>
          </a:p>
          <a:p>
            <a:r>
              <a:t>  - Offizielle Quellen und Unsloth packen den Projector meist nur in BF16 (braucht unnötig viel Speicher).</a:t>
            </a:r>
          </a:p>
          <a:p>
            <a:r>
              <a:t>  - AesSedai quantisiert den Projector in FP8!</a:t>
            </a:r>
          </a:p>
          <a:p>
            <a:r>
              <a:t>  - Man kann das Unsloth-Sprachmodell nehmen und die AesSedai FP8-mmproj-Datei dazustecken: Läuft perfekt und spart sofort 500 MB bis 1.5 GB VRAM!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12:30 - 13:30 | 1 Minute]</a:t>
            </a:r>
          </a:p>
          <a:p>
            <a:r>
              <a:t>• Auf die Release-Seite von llama.cpp gehen: Über 25 verschiedene ZIP-Dateien!</a:t>
            </a:r>
          </a:p>
          <a:p>
            <a:r>
              <a:t>• Entwickler verzweifeln oft: „Welche Datei brauche ich?“</a:t>
            </a:r>
          </a:p>
          <a:p>
            <a:r>
              <a:t>• Der Entscheidungsbaum links löst das in 5 Sekunden auf.</a:t>
            </a:r>
          </a:p>
          <a:p>
            <a:r>
              <a:t>• WICHTIGSTE FALLSTRICKE betonen:</a:t>
            </a:r>
          </a:p>
          <a:p>
            <a:r>
              <a:t>  - Bei Nvidia immer die `cudart`-Libraries mitnehmen, sonst startet `llama-server.exe` mit fehlender DLL!</a:t>
            </a:r>
          </a:p>
          <a:p>
            <a:r>
              <a:t>  - Wer keine GPU hat: CPU-Builds laufen dank AVX2 erstaunlich flott.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13:30 - 14:30 | 1 Minute]</a:t>
            </a:r>
          </a:p>
          <a:p>
            <a:r>
              <a:t>• Apple Silicon ist der Liebling von llama.cpp: Kein Kopiervorgang über PCIe. Unified Memory bedeutet: Ein 64GB Mac kann ein 30B Modell komplett in Metal halten.</a:t>
            </a:r>
          </a:p>
          <a:p>
            <a:r>
              <a:t>• Mobile Inferenz ist kein Spielzeug mehr:</a:t>
            </a:r>
          </a:p>
          <a:p>
            <a:r>
              <a:t>  - Pocket AI Lab (iOS): Einfach GGUF in die Dateien-App werfen und auf dem iPhone ausführen.</a:t>
            </a:r>
          </a:p>
          <a:p>
            <a:r>
              <a:t>  - LM Playground (Android): Open-Source auf GitHub &amp; Play Store, läuft auf modernen Chips mit 20+ Tokens/s.</a:t>
            </a:r>
          </a:p>
          <a:p>
            <a:r>
              <a:t>• Überleitung: Wir haben das Binary, wir haben das GGUF – wie starten wir es jetzt in 3 Schritten?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14:30 - 15:30 | 1 Minute]</a:t>
            </a:r>
          </a:p>
          <a:p>
            <a:r>
              <a:t>• Die 6 Flags durchgehen:</a:t>
            </a:r>
          </a:p>
          <a:p>
            <a:r>
              <a:t>  - `-ngl 99`: Der Klassiker. Wenn der VRAM voll ist, meldet llama.cpp genau: „31 of 32 layers loaded into GPU“.</a:t>
            </a:r>
          </a:p>
          <a:p>
            <a:r>
              <a:t>  - `-fa`: FLASH ATTENTION IMMER SETZEN! Spart VRAM und beschleunigt lange Prompts.</a:t>
            </a:r>
          </a:p>
          <a:p>
            <a:r>
              <a:t>  - `-t`: Bei reiner CPU: Niemals 16 Threads auf einer 8-Kern CPU angeben. Hyperthreading schadet bei Matrix-Multiplikationen.</a:t>
            </a:r>
          </a:p>
          <a:p>
            <a:r>
              <a:t>• Überleitung: Jetzt werfen wir genau diesen Befehl live an und schauen uns den Server an!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15:30 - 18:00 | 2.5 Minuten Live-Demo]</a:t>
            </a:r>
          </a:p>
          <a:p>
            <a:r>
              <a:t>• JETZT ZUM TERMINAL WECHSELN!</a:t>
            </a:r>
          </a:p>
          <a:p>
            <a:r>
              <a:t>• Befehl ausführen, Terminal auf die linke Bildschirmhälfte, Browser auf die rechte.</a:t>
            </a:r>
          </a:p>
          <a:p>
            <a:r>
              <a:t>• Vor dem Absenden des ersten Prompts kurz fragen: „Wer wettet mit? Wie viele Tokens pro Sekunde kriegen wir raus?“</a:t>
            </a:r>
          </a:p>
          <a:p>
            <a:r>
              <a:t>• Frage eintippen, Enter drücken, Tokens streamen sehen.</a:t>
            </a:r>
          </a:p>
          <a:p>
            <a:r>
              <a:t>• In der Konsole zeigen: „llama_print_timings: prompt eval time = 120 ms, eval time = 28 ms per token (35.7 T/s)“.</a:t>
            </a:r>
          </a:p>
          <a:p>
            <a:r>
              <a:t>• Zeigen: Eingebautes WebUI auf Port 8080 hat sogar Settings für Temperatur, Top-P und Grammars!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18:00 - 18:45 | 45 Sekunden]</a:t>
            </a:r>
          </a:p>
          <a:p>
            <a:r>
              <a:t>• Multimodalität: Zeigen, dass man mit --mmproj einfach Bilder analysieren kann. Extrem wertvoll für DSGVO-konforme Rechnungs- und Beleganalyse.</a:t>
            </a:r>
          </a:p>
          <a:p>
            <a:r>
              <a:t>• Nochmals betonen: Holt euch die FP8 mmproj-Dateien von AesSedai! Spart wertvollen VRAM.</a:t>
            </a:r>
          </a:p>
          <a:p>
            <a:r>
              <a:t>• Speculative Decoding: Das Konzept kurz erklären: Ein kleines Modell rät vor, das große bestätigt im Pulk.</a:t>
            </a:r>
          </a:p>
          <a:p>
            <a:r>
              <a:t>• Ergebnis: 1.5x bis 2.5x Speedup ohne Qualitätsverlust.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18:45 - 19:30 | 45 Sekunden]</a:t>
            </a:r>
          </a:p>
          <a:p>
            <a:r>
              <a:t>• Die Quintessenz zusammenfassen:</a:t>
            </a:r>
          </a:p>
          <a:p>
            <a:r>
              <a:t>  - Wer interne Tools baut: llama.cpp.</a:t>
            </a:r>
          </a:p>
          <a:p>
            <a:r>
              <a:t>  - Wer tausende Cloud-Kunden bedient: vLLM / SGLang.</a:t>
            </a:r>
          </a:p>
          <a:p>
            <a:r>
              <a:t>• Die 5 Goldenen Regeln noch einmal kurz im Raum nachhallen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19:30 - 20:00 | 30 Sekunden + Q&amp;A]</a:t>
            </a:r>
          </a:p>
          <a:p>
            <a:r>
              <a:t>• Das Rausschmeißer-Quiz kurz abfeuern – das aktiviert alle noch einmal vor der Fragerunde.</a:t>
            </a:r>
          </a:p>
          <a:p>
            <a:r>
              <a:t>• Handout-PDF erwähnen: Alle 3 Entscheidungsbäume liegen druckfertig als A4 vor.</a:t>
            </a:r>
          </a:p>
          <a:p>
            <a:r>
              <a:t>• Diskussion und Fragen eröffnen!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1.jpg"/><Relationship Id="rId7" Type="http://schemas.openxmlformats.org/officeDocument/2006/relationships/slide" Target="slide1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.png"/><Relationship Id="rId7" Type="http://schemas.openxmlformats.org/officeDocument/2006/relationships/slide" Target="slide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3.png"/><Relationship Id="rId7" Type="http://schemas.openxmlformats.org/officeDocument/2006/relationships/slide" Target="slide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4.png"/><Relationship Id="rId7" Type="http://schemas.openxmlformats.org/officeDocument/2006/relationships/slide" Target="slide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5.png"/><Relationship Id="rId7" Type="http://schemas.openxmlformats.org/officeDocument/2006/relationships/slide" Target="slide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6.jpg"/><Relationship Id="rId7" Type="http://schemas.openxmlformats.org/officeDocument/2006/relationships/slide" Target="slide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1.xml"/><Relationship Id="rId10" Type="http://schemas.openxmlformats.org/officeDocument/2006/relationships/slide" Target="slide16.xml"/><Relationship Id="rId4" Type="http://schemas.openxmlformats.org/officeDocument/2006/relationships/image" Target="../media/image7.jpg"/><Relationship Id="rId9" Type="http://schemas.openxmlformats.org/officeDocument/2006/relationships/slide" Target="slide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8.jpg"/><Relationship Id="rId7" Type="http://schemas.openxmlformats.org/officeDocument/2006/relationships/slide" Target="slid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1.xml"/><Relationship Id="rId10" Type="http://schemas.openxmlformats.org/officeDocument/2006/relationships/slide" Target="slide16.xml"/><Relationship Id="rId4" Type="http://schemas.openxmlformats.org/officeDocument/2006/relationships/image" Target="../media/image9.jpg"/><Relationship Id="rId9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10.png"/><Relationship Id="rId7" Type="http://schemas.openxmlformats.org/officeDocument/2006/relationships/slide" Target="slide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11.png"/><Relationship Id="rId7" Type="http://schemas.openxmlformats.org/officeDocument/2006/relationships/slide" Target="slide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20-MINUTEN DEEP DIVE: LLAMA.CPP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67512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12648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4400" b="1">
                <a:solidFill>
                  <a:srgbClr val="F5F5F7"/>
                </a:solidFill>
                <a:latin typeface="Bahnschrift"/>
              </a:defRPr>
            </a:pPr>
            <a:r>
              <a:rPr dirty="0"/>
              <a:t>llama.cpp</a:t>
            </a:r>
          </a:p>
          <a:p>
            <a:pPr>
              <a:spcAft>
                <a:spcPts val="2200"/>
              </a:spcAft>
              <a:defRPr sz="1700" b="1">
                <a:solidFill>
                  <a:srgbClr val="F59E0B"/>
                </a:solidFill>
                <a:latin typeface="Bahnschrift"/>
              </a:defRPr>
            </a:pPr>
            <a:r>
              <a:rPr dirty="0" err="1"/>
              <a:t>Lokale</a:t>
            </a:r>
            <a:r>
              <a:rPr dirty="0"/>
              <a:t> LLM-</a:t>
            </a:r>
            <a:r>
              <a:rPr dirty="0" err="1"/>
              <a:t>Inferenz</a:t>
            </a:r>
            <a:r>
              <a:rPr dirty="0"/>
              <a:t> </a:t>
            </a:r>
            <a:r>
              <a:rPr dirty="0" err="1"/>
              <a:t>ohne</a:t>
            </a:r>
            <a:r>
              <a:rPr dirty="0"/>
              <a:t> Cloud-</a:t>
            </a:r>
            <a:r>
              <a:rPr dirty="0" err="1"/>
              <a:t>Zwang</a:t>
            </a:r>
            <a:r>
              <a:rPr dirty="0"/>
              <a:t> &amp; Overhead</a:t>
            </a:r>
          </a:p>
          <a:p>
            <a:pPr>
              <a:spcAft>
                <a:spcPts val="1000"/>
              </a:spcAft>
            </a:pPr>
            <a:r>
              <a:rPr sz="1300" b="1" dirty="0" err="1">
                <a:solidFill>
                  <a:srgbClr val="F5F5F7"/>
                </a:solidFill>
                <a:latin typeface="Bahnschrift"/>
              </a:rPr>
              <a:t>Wann</a:t>
            </a:r>
            <a:r>
              <a:rPr sz="1300" b="1" dirty="0">
                <a:solidFill>
                  <a:srgbClr val="F5F5F7"/>
                </a:solidFill>
                <a:latin typeface="Bahnschrift"/>
              </a:rPr>
              <a:t> llama.cpp?  ·  </a:t>
            </a:r>
            <a:r>
              <a:rPr sz="1250" dirty="0">
                <a:solidFill>
                  <a:srgbClr val="8C909C"/>
                </a:solidFill>
                <a:latin typeface="Bahnschrift"/>
              </a:rPr>
              <a:t>Single-Stream, CPU/Misch-Deployment, Apple Silicon &amp; Edge.</a:t>
            </a: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5F5F7"/>
                </a:solidFill>
                <a:latin typeface="Bahnschrift"/>
              </a:rPr>
              <a:t>Die </a:t>
            </a:r>
            <a:r>
              <a:rPr sz="1300" b="1" dirty="0" err="1">
                <a:solidFill>
                  <a:srgbClr val="F5F5F7"/>
                </a:solidFill>
                <a:latin typeface="Bahnschrift"/>
              </a:rPr>
              <a:t>Macht</a:t>
            </a:r>
            <a:r>
              <a:rPr sz="1300" b="1" dirty="0">
                <a:solidFill>
                  <a:srgbClr val="F5F5F7"/>
                </a:solidFill>
                <a:latin typeface="Bahnschrift"/>
              </a:rPr>
              <a:t> </a:t>
            </a:r>
            <a:r>
              <a:rPr sz="1300" b="1" dirty="0" err="1">
                <a:solidFill>
                  <a:srgbClr val="F5F5F7"/>
                </a:solidFill>
                <a:latin typeface="Bahnschrift"/>
              </a:rPr>
              <a:t>kleiner</a:t>
            </a:r>
            <a:r>
              <a:rPr sz="1300" b="1" dirty="0">
                <a:solidFill>
                  <a:srgbClr val="F5F5F7"/>
                </a:solidFill>
                <a:latin typeface="Bahnschrift"/>
              </a:rPr>
              <a:t> Apps:  ·  </a:t>
            </a:r>
            <a:r>
              <a:rPr lang="de-DE" sz="1250" dirty="0">
                <a:solidFill>
                  <a:srgbClr val="8C909C"/>
                </a:solidFill>
                <a:latin typeface="Bahnschrift"/>
              </a:rPr>
              <a:t>Braucht dein</a:t>
            </a:r>
            <a:r>
              <a:rPr sz="1250" dirty="0">
                <a:solidFill>
                  <a:srgbClr val="8C909C"/>
                </a:solidFill>
                <a:latin typeface="Bahnschrift"/>
              </a:rPr>
              <a:t> Workflow </a:t>
            </a:r>
            <a:r>
              <a:rPr lang="de-DE" sz="1250" dirty="0">
                <a:solidFill>
                  <a:srgbClr val="8C909C"/>
                </a:solidFill>
                <a:latin typeface="Bahnschrift"/>
              </a:rPr>
              <a:t>(</a:t>
            </a:r>
            <a:r>
              <a:rPr sz="1250" dirty="0">
                <a:solidFill>
                  <a:srgbClr val="8C909C"/>
                </a:solidFill>
                <a:latin typeface="Bahnschrift"/>
              </a:rPr>
              <a:t>k</a:t>
            </a:r>
            <a:r>
              <a:rPr lang="de-DE" sz="1250" dirty="0">
                <a:solidFill>
                  <a:srgbClr val="8C909C"/>
                </a:solidFill>
                <a:latin typeface="Bahnschrift"/>
              </a:rPr>
              <a:t>)</a:t>
            </a:r>
            <a:r>
              <a:rPr sz="1250" dirty="0" err="1">
                <a:solidFill>
                  <a:srgbClr val="8C909C"/>
                </a:solidFill>
                <a:latin typeface="Bahnschrift"/>
              </a:rPr>
              <a:t>einen</a:t>
            </a:r>
            <a:r>
              <a:rPr sz="1250" dirty="0">
                <a:solidFill>
                  <a:srgbClr val="8C909C"/>
                </a:solidFill>
                <a:latin typeface="Bahnschrift"/>
              </a:rPr>
              <a:t> GPU-Cluster</a:t>
            </a:r>
            <a:r>
              <a:rPr lang="de-DE" sz="1250" dirty="0">
                <a:solidFill>
                  <a:srgbClr val="8C909C"/>
                </a:solidFill>
                <a:latin typeface="Bahnschrift"/>
              </a:rPr>
              <a:t>?</a:t>
            </a:r>
            <a:endParaRPr sz="1250" dirty="0">
              <a:solidFill>
                <a:srgbClr val="8C909C"/>
              </a:solidFill>
              <a:latin typeface="Bahnschrift"/>
            </a:endParaRP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5F5F7"/>
                </a:solidFill>
                <a:latin typeface="Bahnschrift"/>
              </a:rPr>
              <a:t>GGUF &amp; </a:t>
            </a:r>
            <a:r>
              <a:rPr sz="1300" b="1" dirty="0" err="1">
                <a:solidFill>
                  <a:srgbClr val="F5F5F7"/>
                </a:solidFill>
                <a:latin typeface="Bahnschrift"/>
              </a:rPr>
              <a:t>Quantisierung</a:t>
            </a:r>
            <a:r>
              <a:rPr sz="1300" b="1" dirty="0">
                <a:solidFill>
                  <a:srgbClr val="F5F5F7"/>
                </a:solidFill>
                <a:latin typeface="Bahnschrift"/>
              </a:rPr>
              <a:t>:  ·  </a:t>
            </a:r>
            <a:r>
              <a:rPr lang="de-DE" sz="1250" dirty="0">
                <a:solidFill>
                  <a:srgbClr val="8C909C"/>
                </a:solidFill>
                <a:latin typeface="Bahnschrift"/>
              </a:rPr>
              <a:t>Welche Quantisierung wähle ich wann?</a:t>
            </a:r>
            <a:endParaRPr sz="1250" dirty="0">
              <a:solidFill>
                <a:srgbClr val="8C909C"/>
              </a:solidFill>
              <a:latin typeface="Bahnschrift"/>
            </a:endParaRP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5F5F7"/>
                </a:solidFill>
                <a:latin typeface="Bahnschrift"/>
              </a:rPr>
              <a:t>Live-Demo &amp; Setup:  ·  </a:t>
            </a:r>
            <a:r>
              <a:rPr sz="1250" dirty="0">
                <a:solidFill>
                  <a:srgbClr val="8C909C"/>
                </a:solidFill>
                <a:latin typeface="Bahnschrift"/>
              </a:rPr>
              <a:t>Von Zero </a:t>
            </a:r>
            <a:r>
              <a:rPr sz="1250" dirty="0" err="1">
                <a:solidFill>
                  <a:srgbClr val="8C909C"/>
                </a:solidFill>
                <a:latin typeface="Bahnschrift"/>
              </a:rPr>
              <a:t>zu</a:t>
            </a:r>
            <a:r>
              <a:rPr sz="1250" dirty="0">
                <a:solidFill>
                  <a:srgbClr val="8C909C"/>
                </a:solidFill>
                <a:latin typeface="Bahnschrift"/>
              </a:rPr>
              <a:t> Token-Streaming in </a:t>
            </a:r>
            <a:r>
              <a:rPr lang="de-DE" sz="1250" dirty="0">
                <a:solidFill>
                  <a:srgbClr val="8C909C"/>
                </a:solidFill>
                <a:latin typeface="Bahnschrift"/>
              </a:rPr>
              <a:t>unter 60 </a:t>
            </a:r>
            <a:r>
              <a:rPr sz="1250" dirty="0" err="1">
                <a:solidFill>
                  <a:srgbClr val="8C909C"/>
                </a:solidFill>
                <a:latin typeface="Bahnschrift"/>
              </a:rPr>
              <a:t>Sekunden</a:t>
            </a:r>
            <a:r>
              <a:rPr sz="1250" dirty="0">
                <a:solidFill>
                  <a:srgbClr val="8C909C"/>
                </a:solidFill>
                <a:latin typeface="Bahnschrif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3822191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me5_folder_named_mod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54480"/>
            <a:ext cx="3456432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562356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8C909C"/>
                </a:solidFill>
                <a:latin typeface="Bahnschrift"/>
              </a:defRPr>
            </a:pPr>
            <a:r>
              <a:rPr dirty="0"/>
              <a:t>„</a:t>
            </a:r>
            <a:r>
              <a:rPr lang="en-US" dirty="0"/>
              <a:t>When she sees a folder named 'models' in your personal laptop...“</a:t>
            </a:r>
            <a:endParaRPr dirty="0"/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Die Inferenz-Landschaft: Fünf Engines im Vergleich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Merkmal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llama.cpp</a:t>
                      </a:r>
                    </a:p>
                  </a:txBody>
                  <a:tcPr>
                    <a:solidFill>
                      <a:srgbClr val="2628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K-Transformers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vLLM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SGLang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Architektur-Trenner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Dynamic / On-Demand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Dynamic / On-Demand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Hybrid (CPU/GPU)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Pre-allocated High-Throughput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Pre-allocated High-Throughput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Speicher-Verwaltung</a:t>
                      </a:r>
                      <a:br/>
                      <a:r>
                        <a:t>(VRAM)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Allokiert dynamisch; gibt bei Inaktivität frei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Minimaler Basis-VRAM; allokiert KV-Cache zur Runtime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Hybrid: MoE im RAM, aktive Pfade auf GPU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Reserviert vorab ~90% VRAM für PagedAttention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Reserviert vorab fast gesamten VRAM (RadixAttention)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Hardware-Fokus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Lokale Rechner, Apple Silicon, Single-GPU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CPU-only, Apple Silicon, VRAM/RAM-Offload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Extremes Offload (große MoEs auf Heim-RAM)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Reine Datacenter-/Cloud-GPUs, Multi-GPU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Reine Datacenter-/Cloud-GPUs, Multi-GPU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Batching / Durchsatz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Gering (Single-User / wenige Anfragen)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Limitiert (primär sequenziell / kleiner Batch)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Limitiert auf Inferenz großer Hybrid-Modelle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Exzellent (Continuous Batching)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Exzellent + extrem schnell bei mehrstufigen Workflows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Einsatz &amp; Fazit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Nur schnelles Ausprobieren; ungeeignet für Prod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Ideal für Prototyping, CPU-Mischbetrieb &amp; Edge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Brücke: Riesen-MoEs auf Consumer-Hardware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Standard für Serving &amp; Produktiv-APIs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Standard für Agenten, Structured Output &amp; Multi-Turn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Positionierung: Warum kein Ollama &amp; Wann llama.cpp in Production?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84048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A3633"/>
                </a:solidFill>
                <a:latin typeface="Bahnschrift"/>
              </a:defRPr>
            </a:pPr>
            <a:r>
              <a:t>WARUM KEIN OLLAMA IN PRODUCTION?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Schwarze Box &amp; Wrapper: </a:t>
            </a:r>
            <a:r>
              <a:rPr sz="1050">
                <a:solidFill>
                  <a:srgbClr val="8C909C"/>
                </a:solidFill>
                <a:latin typeface="Bahnschrift"/>
              </a:rPr>
              <a:t>Geforkter C++ Core in Go-Daemon gekapselt. Fehler schwer debuggbar.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Latenz-Spikes durch Timeouts: </a:t>
            </a:r>
            <a:r>
              <a:rPr sz="1050">
                <a:solidFill>
                  <a:srgbClr val="8C909C"/>
                </a:solidFill>
                <a:latin typeface="Bahnschrift"/>
              </a:rPr>
              <a:t>Entlädt Modelle nach 5 Min Inaktivität standardmäßig. Unberechenbare Kaltstarts!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Intransparente Parameter: </a:t>
            </a:r>
            <a:r>
              <a:rPr sz="1050">
                <a:solidFill>
                  <a:srgbClr val="8C909C"/>
                </a:solidFill>
                <a:latin typeface="Bahnschrift"/>
              </a:rPr>
              <a:t>Context Length oft heimlich auf 2048 begrenzt; GPU-Offload schwer feinzujustieren.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Proprietäres Format: </a:t>
            </a:r>
            <a:r>
              <a:rPr sz="1050">
                <a:solidFill>
                  <a:srgbClr val="8C909C"/>
                </a:solidFill>
                <a:latin typeface="Bahnschrift"/>
              </a:rPr>
              <a:t>Erfordert 'Modelfiles' statt offener Standards wie direktem GGUF.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Fazit: </a:t>
            </a:r>
            <a:r>
              <a:rPr sz="1050">
                <a:solidFill>
                  <a:srgbClr val="8C909C"/>
                </a:solidFill>
                <a:latin typeface="Bahnschrift"/>
              </a:rPr>
              <a:t>Für schnelles Ausprobieren nett – für stabile, auditierbare Deployments ungeeignet.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84048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1536192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  <a:latin typeface="Bahnschrift"/>
              </a:defRPr>
            </a:pPr>
            <a:r>
              <a:t>WANN LLAMA.CPP IN PRODUCTION?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1. Single-Stream Workflows: </a:t>
            </a:r>
            <a:r>
              <a:rPr sz="1050">
                <a:solidFill>
                  <a:srgbClr val="8C909C"/>
                </a:solidFill>
                <a:latin typeface="Bahnschrift"/>
              </a:rPr>
              <a:t>Interne Agenten, CLI-Tools, Hintergrund-Crawler, RAG-Pipelines ohne Concurrency-Druck.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2. CPU- &amp; Misch-Deployment: </a:t>
            </a:r>
            <a:r>
              <a:rPr sz="1050">
                <a:solidFill>
                  <a:srgbClr val="8C909C"/>
                </a:solidFill>
                <a:latin typeface="Bahnschrift"/>
              </a:rPr>
              <a:t>Vorhandene Alt-Server oder Laptops nutzen, statt teuren VRAM zu kaufen.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3. Edge &amp; Apple Silicon: </a:t>
            </a:r>
            <a:r>
              <a:rPr sz="1050">
                <a:solidFill>
                  <a:srgbClr val="8C909C"/>
                </a:solidFill>
                <a:latin typeface="Bahnschrift"/>
              </a:rPr>
              <a:t>Nutzt Unified Memory via Metal bis zum letzten Byte ohne Overhead.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Die Macht kleiner Apps: </a:t>
            </a:r>
            <a:r>
              <a:rPr sz="1050">
                <a:solidFill>
                  <a:srgbClr val="8C909C"/>
                </a:solidFill>
                <a:latin typeface="Bahnschrift"/>
              </a:rPr>
              <a:t>Für unzählige interne Workflows reichen 20–40 T/s völlig aus. 10x kostengünstiger als GPU-Cluster!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Mobile Apps: </a:t>
            </a:r>
            <a:r>
              <a:rPr sz="1050">
                <a:solidFill>
                  <a:srgbClr val="8C909C"/>
                </a:solidFill>
                <a:latin typeface="Bahnschrift"/>
              </a:rPr>
              <a:t>Pocket AI Lab (iOS) &amp; LM Playground (Android) bringen GGUF direkt aufs Smartphone.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371600"/>
            <a:ext cx="268193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eme6_be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645920"/>
            <a:ext cx="2459736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87968" y="5715000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Bahnschrift"/>
              </a:defRPr>
            </a:pPr>
            <a:r>
              <a:t>„4B on CPU is plenty for my use“</a:t>
            </a:r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3" name="Rectangle 12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4" name="Rectangle 13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5" name="Rectangle 14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6" name="Rectangle 15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Euer KI-Einstieg: Seid ihr mit ChatGPT oder mit Claude gestartet?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379476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2EA043"/>
                </a:solidFill>
                <a:latin typeface="Bahnschrift"/>
              </a:defRPr>
            </a:pPr>
            <a:r>
              <a:t>TEAM CHATGPT / OPENAI</a:t>
            </a:r>
          </a:p>
          <a:p>
            <a:pPr>
              <a:spcAft>
                <a:spcPts val="800"/>
              </a:spcAft>
              <a:defRPr sz="1050">
                <a:solidFill>
                  <a:srgbClr val="8C909C"/>
                </a:solidFill>
                <a:latin typeface="Bahnschrift"/>
              </a:defRPr>
            </a:pPr>
            <a:r>
              <a:t>Der globale Einstiegspunkt für Millionen Entwickler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GPT-3.5 (Nov. 2022):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Der globale Aha-Moment für Text- &amp; Chatgenerierung.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GPT-4 (März 2023):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Der Quantensprung: Echtes Reasoning &amp; Code-Verständnis.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GPT-4o (Mai 2024):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Blitzschnell, multimodal – der weltweite Cloud-Standard.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GPT-5 (Aug. 2025) &amp; 5.2 (Dez. 2025):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Der Sprung in autonomes Agenten-Reasoning.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GPT-5.5 (Apr. 2026) &amp; GPT-6 Astra (Sept. 2026):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Test-Time Compute &amp; Frontier-Spitze.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2EA043"/>
                </a:solidFill>
                <a:latin typeface="Bahnschrift"/>
              </a:rPr>
              <a:t>• Frage an euch: </a:t>
            </a:r>
            <a:r>
              <a:rPr sz="1000" b="1">
                <a:solidFill>
                  <a:srgbClr val="F5F5F7"/>
                </a:solidFill>
                <a:latin typeface="Bahnschrift"/>
              </a:rPr>
              <a:t>Wer von euch war bei GPT-3.5 / GPT-4 schon dabei?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379476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087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59E0B"/>
                </a:solidFill>
                <a:latin typeface="Bahnschrift"/>
              </a:defRPr>
            </a:pPr>
            <a:r>
              <a:t>TEAM CLAUDE / ANTHROPIC</a:t>
            </a:r>
          </a:p>
          <a:p>
            <a:pPr>
              <a:spcAft>
                <a:spcPts val="800"/>
              </a:spcAft>
              <a:defRPr sz="1050">
                <a:solidFill>
                  <a:srgbClr val="8C909C"/>
                </a:solidFill>
                <a:latin typeface="Bahnschrift"/>
              </a:defRPr>
            </a:pPr>
            <a:r>
              <a:t>Die Coding- &amp; Nuancen-Referenz für professionelle Architekten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Claude 3 Opus (März 2024):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Erster Meilenstein, der GPT-4 im Coden spürbar deklassierte.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Claude 3.5 Sonnet (Juni 2024):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Der globale De-facto-Standard für Entwickler-Tools.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Claude Opus 4 (Mai 2025) &amp; 4.5 (Nov. 2025):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Mathematisches Reasoning &amp; Multi-File-Coding.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• Claude Opus 4.6 (Feb. 2026) &amp; 5.5 (Sept. 2026): </a:t>
            </a:r>
            <a:r>
              <a:rPr sz="1000" b="0">
                <a:solidFill>
                  <a:srgbClr val="8C909C"/>
                </a:solidFill>
                <a:latin typeface="Bahnschrift"/>
              </a:rPr>
              <a:t>Die Benchmark-Spitze proprietärer Modelle.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F59E0B"/>
                </a:solidFill>
                <a:latin typeface="Bahnschrift"/>
              </a:rPr>
              <a:t>• Frage an euch: </a:t>
            </a:r>
            <a:r>
              <a:rPr sz="1000" b="1">
                <a:solidFill>
                  <a:srgbClr val="F5F5F7"/>
                </a:solidFill>
                <a:latin typeface="Bahnschrift"/>
              </a:rPr>
              <a:t>Wer nutzt heute bevorzugt Claude für Architektur &amp; Code?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728655" cy="1051560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132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Bahnschrift"/>
              </a:rPr>
              <a:t>DIE FUNDAMENTALE REFLEXION: </a:t>
            </a:r>
            <a:r>
              <a:rPr sz="1150">
                <a:solidFill>
                  <a:srgbClr val="F5F5F7"/>
                </a:solidFill>
                <a:latin typeface="Bahnschrift"/>
              </a:rPr>
              <a:t>Erinnert ihr euch an das Gefühl, wie unerreichbar gut sich GPT-4 oder Claude 3 damals anfühlten? Schauen wir uns an, wo diese Modelle heute im Benchmark stehen – und wie viel dieser Intelligenz ihr heute vollkommen lokal und offline auf eurem Laptop betreiben könnt!</a:t>
            </a:r>
          </a:p>
        </p:txBody>
      </p:sp>
      <p:sp>
        <p:nvSpPr>
          <p:cNvPr id="10" name="Rectangle 9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Benchmark 1: Wo steht die ChatGPT-Familie heute?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nchmark_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Benchmark 2: Wo steht die Claude-Familie?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nchmark_anthr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Benchmark 3: Open-Weights Realitäts-Check auf Augenhöhe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nchmark_open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Cheat Sheet: Die besten Open-Weights Modelle für llama.cpp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214884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A043"/>
                </a:solidFill>
                <a:latin typeface="Bahnschrift"/>
              </a:defRPr>
            </a:pPr>
            <a:r>
              <a:t>1. HIGH-END REASONING &amp; CODING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Modelle: </a:t>
            </a:r>
            <a:r>
              <a:rPr sz="950">
                <a:solidFill>
                  <a:srgbClr val="8C909C"/>
                </a:solidFill>
                <a:latin typeface="Bahnschrift"/>
              </a:rPr>
              <a:t>Qwen 3.8 Family (Flash-Next &amp; 27B xhigh)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Benchmark: </a:t>
            </a:r>
            <a:r>
              <a:rPr sz="950">
                <a:solidFill>
                  <a:srgbClr val="8C909C"/>
                </a:solidFill>
                <a:latin typeface="Bahnschrift"/>
              </a:rPr>
              <a:t>Score 40 bzw. 34 – übertrifft GPT-5.5 &amp; Claude Opus 4.6!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Hardware: </a:t>
            </a:r>
            <a:r>
              <a:rPr sz="950">
                <a:solidFill>
                  <a:srgbClr val="8C909C"/>
                </a:solidFill>
                <a:latin typeface="Bahnschrift"/>
              </a:rPr>
              <a:t>27B in Q4_K_M (~16.5 GB VRAM/RAM) läuft flüssig auf Consumer-PCs.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llama.cpp: </a:t>
            </a:r>
            <a:r>
              <a:rPr sz="950">
                <a:solidFill>
                  <a:srgbClr val="8C909C"/>
                </a:solidFill>
                <a:latin typeface="Bahnschrift"/>
              </a:rPr>
              <a:t>Exzellenter nativer Support &amp; perfekte Tool-Calling Chat-Templates.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214884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36792" y="1481328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A6FF"/>
                </a:solidFill>
                <a:latin typeface="Bahnschrift"/>
              </a:defRPr>
            </a:pPr>
            <a:r>
              <a:t>2. MULTIMODALE ALLROUNDER (AUDIO + VISION)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Modelle: </a:t>
            </a:r>
            <a:r>
              <a:rPr sz="950">
                <a:solidFill>
                  <a:srgbClr val="8C909C"/>
                </a:solidFill>
                <a:latin typeface="Bahnschrift"/>
              </a:rPr>
              <a:t>Google Gemma 4 Family (E2B, E4B, 12B)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Superkraft: </a:t>
            </a:r>
            <a:r>
              <a:rPr sz="950">
                <a:solidFill>
                  <a:srgbClr val="8C909C"/>
                </a:solidFill>
                <a:latin typeface="Bahnschrift"/>
              </a:rPr>
              <a:t>Native Unterstützung für Audio UND Vision direkt in einem Modell!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Effizienz: </a:t>
            </a:r>
            <a:r>
              <a:rPr sz="950">
                <a:solidFill>
                  <a:srgbClr val="8C909C"/>
                </a:solidFill>
                <a:latin typeface="Bahnschrift"/>
              </a:rPr>
              <a:t>Gemma 4 E4B (Score 9) schlägt GPT-4o bei minimalem VRAM-Bedarf.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Deployment: </a:t>
            </a:r>
            <a:r>
              <a:rPr sz="950">
                <a:solidFill>
                  <a:srgbClr val="8C909C"/>
                </a:solidFill>
                <a:latin typeface="Bahnschrift"/>
              </a:rPr>
              <a:t>Ideal für lokale Sprachassistenten &amp; Bild-/OCR-Analyse ohne Cloud.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5257800" cy="214884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Bahnschrift"/>
              </a:defRPr>
            </a:pPr>
            <a:r>
              <a:t>3. ULTRA-EFFIZIENZ &amp; EDGE (CPU / MOBILE)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Modelle: </a:t>
            </a:r>
            <a:r>
              <a:rPr sz="950">
                <a:solidFill>
                  <a:srgbClr val="8C909C"/>
                </a:solidFill>
                <a:latin typeface="Bahnschrift"/>
              </a:rPr>
              <a:t>Liquid AI LFM 2.5 Family (1.2B-Thinking &amp; 2.6B)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Architektur: </a:t>
            </a:r>
            <a:r>
              <a:rPr sz="950">
                <a:solidFill>
                  <a:srgbClr val="8C909C"/>
                </a:solidFill>
                <a:latin typeface="Bahnschrift"/>
              </a:rPr>
              <a:t>Liquid Neural Network Hybrid: Rasante Inferenz auf reiner CPU.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Edge &amp; Handy: </a:t>
            </a:r>
            <a:r>
              <a:rPr sz="950">
                <a:solidFill>
                  <a:srgbClr val="8C909C"/>
                </a:solidFill>
                <a:latin typeface="Bahnschrift"/>
              </a:rPr>
              <a:t>Perfekt für Smartphones (Pocket AI / LM Playground) &amp; Raspberry Pi.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Thinking: </a:t>
            </a:r>
            <a:r>
              <a:rPr sz="950">
                <a:solidFill>
                  <a:srgbClr val="8C909C"/>
                </a:solidFill>
                <a:latin typeface="Bahnschrift"/>
              </a:rPr>
              <a:t>1.2B-Thinking bringt echtes Chain-of-Thought auf minimalem Footprint.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657600"/>
            <a:ext cx="5257800" cy="2148840"/>
          </a:xfrm>
          <a:prstGeom prst="rect">
            <a:avLst/>
          </a:prstGeom>
          <a:solidFill>
            <a:srgbClr val="18191F"/>
          </a:solidFill>
          <a:ln w="12700">
            <a:solidFill>
              <a:srgbClr val="BB8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3767328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B80F7"/>
                </a:solidFill>
                <a:latin typeface="Bahnschrift"/>
              </a:defRPr>
            </a:pPr>
            <a:r>
              <a:t>4. 100% OFFENE TRAININGSDATEN &amp; COMPLIANCE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Modell: </a:t>
            </a:r>
            <a:r>
              <a:rPr sz="950">
                <a:solidFill>
                  <a:srgbClr val="8C909C"/>
                </a:solidFill>
                <a:latin typeface="Bahnschrift"/>
              </a:rPr>
              <a:t>Nvidia Nemotron 3.5 Lightning (Score 13)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Einsatz: </a:t>
            </a:r>
            <a:r>
              <a:rPr sz="950">
                <a:solidFill>
                  <a:srgbClr val="8C909C"/>
                </a:solidFill>
                <a:latin typeface="Bahnschrift"/>
              </a:rPr>
              <a:t>Output-Qualität solide/durchschnittlich ('meh') – aber entscheidender Vorteil: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Open Data: </a:t>
            </a:r>
            <a:r>
              <a:rPr sz="950">
                <a:solidFill>
                  <a:srgbClr val="8C909C"/>
                </a:solidFill>
                <a:latin typeface="Bahnschrift"/>
              </a:rPr>
              <a:t>100% offene Trainingsdaten, Pipeline &amp; Pretraining-Dokumentation!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F5F7"/>
                </a:solidFill>
                <a:latin typeface="Bahnschrift"/>
              </a:rPr>
              <a:t>Auditierbar: </a:t>
            </a:r>
            <a:r>
              <a:rPr sz="950">
                <a:solidFill>
                  <a:srgbClr val="8C909C"/>
                </a:solidFill>
                <a:latin typeface="Bahnschrift"/>
              </a:rPr>
              <a:t>Unverzichtbar für Enterprise-Governance, DSGVO &amp; strenge Audits.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Bahnschrift"/>
              </a:rPr>
              <a:t>SOFTWARE-VORBEHALT: </a:t>
            </a:r>
            <a:r>
              <a:rPr sz="1000">
                <a:solidFill>
                  <a:srgbClr val="CDD0DA"/>
                </a:solidFill>
                <a:latin typeface="Bahnschrift"/>
              </a:rPr>
              <a:t>K2 Horizon MoVA 36B erreicht mit Score 25 hohes Potenzial, die native llama.cpp Unterstützung ist jedoch aktuell noch experimentell.</a:t>
            </a:r>
          </a:p>
        </p:txBody>
      </p:sp>
      <p:sp>
        <p:nvSpPr>
          <p:cNvPr id="14" name="Rectangle 13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5" name="Rectangle 14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6" name="Rectangle 15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7" name="Rectangle 16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8" name="Rectangle 17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9" name="Rectangle 18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Das GGUF-Ökosystem: Warum es die Open-Source-Welt regiert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67512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6309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  <a:latin typeface="Bahnschrift"/>
              </a:defRPr>
            </a:pPr>
            <a:r>
              <a:t>DIE 4 SUPERKRÄFTE VON GGUF (GPT-GENERATED UNIFIED FORMAT):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1. Single-File Container: </a:t>
            </a:r>
            <a:r>
              <a:rPr sz="1050">
                <a:solidFill>
                  <a:srgbClr val="8C909C"/>
                </a:solidFill>
                <a:latin typeface="Bahnschrift"/>
              </a:rPr>
              <a:t>Modellgewichte, Tokenizer-Vokabular, Chat-Template &amp; Metadaten in einer einzigen Datei. Nie wieder fehlende config.json!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2. mmap-Schnelligkeit: </a:t>
            </a:r>
            <a:r>
              <a:rPr sz="1050">
                <a:solidFill>
                  <a:srgbClr val="8C909C"/>
                </a:solidFill>
                <a:latin typeface="Bahnschrift"/>
              </a:rPr>
              <a:t>Zero-Copy Memory Mapping. Modell startet in Sekundenschnelle direkt aus dem Dateisystem, ohne langwierige Deserialisierung.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3. Flexibles Layer-Offloading: </a:t>
            </a:r>
            <a:r>
              <a:rPr sz="1050">
                <a:solidFill>
                  <a:srgbClr val="8C909C"/>
                </a:solidFill>
                <a:latin typeface="Bahnschrift"/>
              </a:rPr>
              <a:t>Granulare Verteilung: Z. B. 24 Layer auf die GPU schieben und die restlichen 8 Layer nahtlos auf der CPU rechnen lassen.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4. Hardware-agnostisch: </a:t>
            </a:r>
            <a:r>
              <a:rPr sz="1050">
                <a:solidFill>
                  <a:srgbClr val="8C909C"/>
                </a:solidFill>
                <a:latin typeface="Bahnschrift"/>
              </a:rPr>
              <a:t>Läuft überall: x86 AVX2/AVX512, ARM64 (Apple Silicon Metal), NVIDIA CUDA, AMD ROCm, Intel SYCL &amp; Vulkan.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Wo laden? </a:t>
            </a:r>
            <a:r>
              <a:rPr sz="1050">
                <a:solidFill>
                  <a:srgbClr val="8C909C"/>
                </a:solidFill>
                <a:latin typeface="Bahnschrift"/>
              </a:rPr>
              <a:t>Hugging Face! Die weltweite Plattform für Open Weights. Wer lädt neue Modelle am schnellsten hoch? Das schauen wir uns gleich 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3822191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me1_wen_ggu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36192"/>
            <a:ext cx="3456432" cy="2194560"/>
          </a:xfrm>
          <a:prstGeom prst="rect">
            <a:avLst/>
          </a:prstGeom>
        </p:spPr>
      </p:pic>
      <p:pic>
        <p:nvPicPr>
          <p:cNvPr id="8" name="Picture 7" descr="meme3_meme_arsen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931920"/>
            <a:ext cx="3456432" cy="224028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r:id="rId10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Quantisierungs-Mastery: Mythen, Fakten &amp; Die Goldene Regel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EA043"/>
                </a:solidFill>
                <a:latin typeface="Bahnschrift"/>
              </a:rPr>
              <a:t>16-Bit → 8-Bit (Q8_0): Immer machen!
</a:t>
            </a:r>
            <a:r>
              <a:rPr sz="1050">
                <a:solidFill>
                  <a:srgbClr val="8C909C"/>
                </a:solidFill>
                <a:latin typeface="Bahnschrift"/>
              </a:rPr>
              <a:t>Perplexitätsverlust &lt; 0.05 PPL (menschlich ununterscheidbar).
→ Halbiert den VRAM/RAM-Bedarf und verdoppelt Bandbreiten-Effizienz! F16 ist reine Verschwendung.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F59E0B"/>
                </a:solidFill>
                <a:latin typeface="Bahnschrift"/>
              </a:rPr>
              <a:t>4-Bit (Q4_K_M): Der Sweet Spot!
</a:t>
            </a:r>
            <a:r>
              <a:rPr sz="1050">
                <a:solidFill>
                  <a:srgbClr val="8C909C"/>
                </a:solidFill>
                <a:latin typeface="Bahnschrift"/>
              </a:rPr>
              <a:t>Reduktion auf ~25% der FP16-Originalgröße.
→ Moderne Tensor Cores (Nvidia Ampere/Ada/Blackwell, Apple AMX) bieten optimierte Matrix-Pfade für 4-Bit.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CDD0DA"/>
                </a:solidFill>
                <a:latin typeface="Bahnschrift"/>
              </a:rPr>
              <a:t>5-Bit &amp; 6-Bit: Rechnerisch ineffizient (Notlösung)
</a:t>
            </a:r>
            <a:r>
              <a:rPr sz="1050">
                <a:solidFill>
                  <a:srgbClr val="8C909C"/>
                </a:solidFill>
                <a:latin typeface="Bahnschrift"/>
              </a:rPr>
              <a:t>Hardware rechnet in 2er-Potenzen (4, 8, 16). 5- und 6-Bit müssen zur Laufzeit bitgepackt entpackt werden. Nur sinnvoll, wenn Q8 knapp nicht in den VRAM passt.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DA3633"/>
                </a:solidFill>
                <a:latin typeface="Bahnschrift"/>
              </a:rPr>
              <a:t>Unter 4-Bit (Q2, Q3): Finger weg in Production!
</a:t>
            </a:r>
            <a:r>
              <a:rPr sz="1050">
                <a:solidFill>
                  <a:srgbClr val="8C909C"/>
                </a:solidFill>
                <a:latin typeface="Bahnschrift"/>
              </a:rPr>
              <a:t>Dramatischer Qualitätsabsturz ('Perplexity Cliff'): Halluzinationen, Syntaxfehler im Code und logische Repetitionen nehmen massiv zu.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F59E0B"/>
                </a:solidFill>
                <a:latin typeface="Bahnschrift"/>
              </a:rPr>
              <a:t>DIE GOLDENE REGEL:
</a:t>
            </a:r>
            <a:r>
              <a:rPr sz="1050" b="1">
                <a:solidFill>
                  <a:srgbClr val="F5F5F7"/>
                </a:solidFill>
                <a:latin typeface="Bahnschrift"/>
              </a:rPr>
              <a:t>Größeres Modell in 4-Bit  &gt;&gt;  Kleineres Modell in 8-Bit!
Beispiel: Ein 27B-Modell in Q4 (~16.5 GB) schlägt ein 14B-Modell in Q8 (~15 GB) in jedem Benchmark um Längen!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me4_glm4_ggu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36192"/>
            <a:ext cx="3273552" cy="2240280"/>
          </a:xfrm>
          <a:prstGeom prst="rect">
            <a:avLst/>
          </a:prstGeom>
        </p:spPr>
      </p:pic>
      <p:pic>
        <p:nvPicPr>
          <p:cNvPr id="8" name="Picture 7" descr="meme2_careful_gguf_quant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931920"/>
            <a:ext cx="3273552" cy="219456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r:id="rId10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GGUF-Quellen auf Hugging Face: Unsloth &amp; Underdog AesSedai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06908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8A6FF"/>
                </a:solidFill>
                <a:latin typeface="Bahnschrift"/>
              </a:defRPr>
            </a:pPr>
            <a:r>
              <a:t>DER PLATZHIRSCH: UNSLOTH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Repo: </a:t>
            </a:r>
            <a:r>
              <a:rPr sz="1050">
                <a:solidFill>
                  <a:srgbClr val="8C909C"/>
                </a:solidFill>
                <a:latin typeface="Bahnschrift"/>
              </a:rPr>
              <a:t>huggingface.co/unsloth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Gründer: </a:t>
            </a:r>
            <a:r>
              <a:rPr sz="1050">
                <a:solidFill>
                  <a:srgbClr val="8C909C"/>
                </a:solidFill>
                <a:latin typeface="Bahnschrift"/>
              </a:rPr>
              <a:t>Daniel &amp; Michael Han-Chen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Das 'Release-Radar': </a:t>
            </a:r>
            <a:r>
              <a:rPr sz="1050">
                <a:solidFill>
                  <a:srgbClr val="8C909C"/>
                </a:solidFill>
                <a:latin typeface="Bahnschrift"/>
              </a:rPr>
              <a:t>Sobald Meta, Mistral oder Qwen neue Gewichte droppen, hat Unsloth oft nach 30 Minuten saubere GGUFs online.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Spezialität: </a:t>
            </a:r>
            <a:r>
              <a:rPr sz="1050">
                <a:solidFill>
                  <a:srgbClr val="8C909C"/>
                </a:solidFill>
                <a:latin typeface="Bahnschrift"/>
              </a:rPr>
              <a:t>Dynamic Quants (z. B. Q4_K_M mit partiellen FP16/Q8 Layern an kritischen Stellen) für minimalen Perplexitätsverlust.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Tipp: </a:t>
            </a:r>
            <a:r>
              <a:rPr sz="1050">
                <a:solidFill>
                  <a:srgbClr val="8C909C"/>
                </a:solidFill>
                <a:latin typeface="Bahnschrift"/>
              </a:rPr>
              <a:t>Ideal als erste Anlaufstelle, um zu prüfen, welche neuen Modelle gerade die Open-Source-Szene aufmischen.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069080"/>
          </a:xfrm>
          <a:prstGeom prst="rect">
            <a:avLst/>
          </a:prstGeom>
          <a:solidFill>
            <a:srgbClr val="18191F"/>
          </a:solidFill>
          <a:ln w="12700">
            <a:solidFill>
              <a:srgbClr val="BB8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B80F7"/>
                </a:solidFill>
                <a:latin typeface="Bahnschrift"/>
              </a:defRPr>
            </a:pPr>
            <a:r>
              <a:t>DER GENIALE UNDERDOG: AESSEDAI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Repo: </a:t>
            </a:r>
            <a:r>
              <a:rPr sz="1050">
                <a:solidFill>
                  <a:srgbClr val="8C909C"/>
                </a:solidFill>
                <a:latin typeface="Bahnschrift"/>
              </a:rPr>
              <a:t>huggingface.co/AesSedai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Aussprache: </a:t>
            </a:r>
            <a:r>
              <a:rPr sz="1050">
                <a:solidFill>
                  <a:srgbClr val="8C909C"/>
                </a:solidFill>
                <a:latin typeface="Bahnschrift"/>
              </a:rPr>
              <a:t>„Eis Se-dai“ (aus Robert Jordans 'The Wheel of Time')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Underdog-Story: </a:t>
            </a:r>
            <a:r>
              <a:rPr sz="1050">
                <a:solidFill>
                  <a:srgbClr val="8C909C"/>
                </a:solidFill>
                <a:latin typeface="Bahnschrift"/>
              </a:rPr>
              <a:t>Ähnlich herausragende Qualität wie Unsloth, wird aber oft übersehen, weil die Community nicht so gigantisch ist.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Der FP8-VRAM-Hack: </a:t>
            </a:r>
            <a:r>
              <a:rPr sz="1050">
                <a:solidFill>
                  <a:srgbClr val="F59E0B"/>
                </a:solidFill>
                <a:latin typeface="Bahnschrift"/>
              </a:rPr>
              <a:t>Normalerweise werden Vision Projector Files (mmproj-*.gguf) nur in BF16/FP16 bereitgestellt (1–3 GB extra VRAM).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Das Killer-Feature: </a:t>
            </a:r>
            <a:r>
              <a:rPr sz="1050" b="1">
                <a:solidFill>
                  <a:srgbClr val="F59E0B"/>
                </a:solidFill>
                <a:latin typeface="Bahnschrift"/>
              </a:rPr>
              <a:t>AesSedai liefert IMMER eine FP8-Version der mmproj-Files mit!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Mix &amp; Match: </a:t>
            </a:r>
            <a:r>
              <a:rPr sz="1050">
                <a:solidFill>
                  <a:srgbClr val="8C909C"/>
                </a:solidFill>
                <a:latin typeface="Bahnschrift"/>
              </a:rPr>
              <a:t>Die schlanken FP8-Vision-Dateien von AesSedai sind meist 100% kompatibel mit den Unsloth-Sprachmodellen!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23560"/>
            <a:ext cx="10728655" cy="731520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Bahnschrift"/>
              </a:rPr>
              <a:t>BEST-PRACTICE WORKFLOW: </a:t>
            </a:r>
            <a:r>
              <a:rPr sz="1050">
                <a:solidFill>
                  <a:srgbClr val="F5F5F7"/>
                </a:solidFill>
                <a:latin typeface="Bahnschrift"/>
              </a:rPr>
              <a:t>Modell-Check bei Unsloth starten → Bei Vision-Modellen sofort zu AesSedai wechseln und das FP8-mmproj laden → Wertvollen VRAM sparen und flüssiger arbeiten!</a:t>
            </a:r>
          </a:p>
        </p:txBody>
      </p:sp>
      <p:sp>
        <p:nvSpPr>
          <p:cNvPr id="10" name="Rectangle 9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GitHub-Releases entschlüsselt: Windows &amp; Linux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wnload_win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81328"/>
            <a:ext cx="66751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536192"/>
            <a:ext cx="32735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  <a:latin typeface="Bahnschrift"/>
              </a:defRPr>
            </a:pPr>
            <a:r>
              <a:t>DIE GOLDENEN REGELN FÜR WINDOWS &amp; LINUX: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NVIDIA (RTX 50xx / Blackwell): </a:t>
            </a:r>
            <a:r>
              <a:rPr sz="1000">
                <a:solidFill>
                  <a:srgbClr val="8C909C"/>
                </a:solidFill>
                <a:latin typeface="Bahnschrift"/>
              </a:rPr>
              <a:t>CUDA 13.4 Release wählen (z. B. win-cuda-13.4-x64.zip).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NVIDIA (RTX 40xx / 30xx / 20xx): </a:t>
            </a:r>
            <a:r>
              <a:rPr sz="1000">
                <a:solidFill>
                  <a:srgbClr val="8C909C"/>
                </a:solidFill>
                <a:latin typeface="Bahnschrift"/>
              </a:rPr>
              <a:t>CUDA 12.8 Release wählen (stabilste Performance).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DA3633"/>
                </a:solidFill>
                <a:latin typeface="Bahnschrift"/>
              </a:rPr>
              <a:t>DER CUDART-FEHLER:
</a:t>
            </a:r>
            <a:r>
              <a:rPr sz="1000">
                <a:solidFill>
                  <a:srgbClr val="F5F5F7"/>
                </a:solidFill>
                <a:latin typeface="Bahnschrift"/>
              </a:rPr>
              <a:t>Nvidia-Builds erfordern ZWEI Archive: Das Binary-Archiv UND cudart-...zip! Beide in denselben Ordner entpacken!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Linux / Ubuntu: </a:t>
            </a:r>
            <a:r>
              <a:rPr sz="1000">
                <a:solidFill>
                  <a:srgbClr val="8C909C"/>
                </a:solidFill>
                <a:latin typeface="Bahnschrift"/>
              </a:rPr>
              <a:t>Exakt dieselbe Logik: ubuntu-cuda-12.8-x64.tar.gz + cudart.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AMD Radeon (Linux): </a:t>
            </a:r>
            <a:r>
              <a:rPr sz="1000">
                <a:solidFill>
                  <a:srgbClr val="8C909C"/>
                </a:solidFill>
                <a:latin typeface="Bahnschrift"/>
              </a:rPr>
              <a:t>ROCm 10.0 Archive nutzen (kein CUDA nötig).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Ohne dedizierte GPU: </a:t>
            </a:r>
            <a:r>
              <a:rPr sz="1000">
                <a:solidFill>
                  <a:srgbClr val="8C909C"/>
                </a:solidFill>
                <a:latin typeface="Bahnschrift"/>
              </a:rPr>
              <a:t>Immer das CPU-Build mit AVX2/AVX512 Support wählen!</a:t>
            </a:r>
          </a:p>
        </p:txBody>
      </p:sp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Apple Silicon, Mobile &amp; Edge: Mac, iOS &amp;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wnload_apple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81328"/>
            <a:ext cx="66751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536192"/>
            <a:ext cx="32735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  <a:latin typeface="Bahnschrift"/>
              </a:defRPr>
            </a:pPr>
            <a:r>
              <a:t>DIE MOBILE &amp; APPLE SUPERKRÄFTE: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macOS Apple Silicon (M1–M5):
</a:t>
            </a:r>
            <a:r>
              <a:rPr sz="1000">
                <a:solidFill>
                  <a:srgbClr val="8C909C"/>
                </a:solidFill>
                <a:latin typeface="Bahnschrift"/>
              </a:rPr>
              <a:t>llama-bin-macos-arm64.tar.gz herunterladen. Metal ist standardmäßig aktiviert!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Unified Memory Vorteil: </a:t>
            </a:r>
            <a:r>
              <a:rPr sz="1000">
                <a:solidFill>
                  <a:srgbClr val="8C909C"/>
                </a:solidFill>
                <a:latin typeface="Bahnschrift"/>
              </a:rPr>
              <a:t>CPU und GPU teilen sich denselben 128 GB RAM-Pool – 70B Modelle laufen ohne PCIe-Flaschenhals!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9E0B"/>
                </a:solidFill>
                <a:latin typeface="Bahnschrift"/>
              </a:rPr>
              <a:t>iOS App: Pocket AI Lab:
</a:t>
            </a:r>
            <a:r>
              <a:rPr sz="1000">
                <a:solidFill>
                  <a:srgbClr val="8C909C"/>
                </a:solidFill>
                <a:latin typeface="Bahnschrift"/>
              </a:rPr>
              <a:t>Kostenlose App für iPhone &amp; iPad. Ermöglicht das Laden eigener GGUF-Dateien mit nativer Metal-Beschleunigung.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9E0B"/>
                </a:solidFill>
                <a:latin typeface="Bahnschrift"/>
              </a:rPr>
              <a:t>Android: LM Playground: </a:t>
            </a:r>
            <a:r>
              <a:rPr sz="1000">
                <a:solidFill>
                  <a:srgbClr val="8C909C"/>
                </a:solidFill>
                <a:latin typeface="Bahnschrift"/>
              </a:rPr>
              <a:t>Freie, Open-Source Android App (lmplayground.app). Nutzt Snapdragon NPU &amp; Adreno GPU via Vulkan.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Snapdragon X Elite / Laptops: </a:t>
            </a:r>
            <a:r>
              <a:rPr sz="1000">
                <a:solidFill>
                  <a:srgbClr val="8C909C"/>
                </a:solidFill>
                <a:latin typeface="Bahnschrift"/>
              </a:rPr>
              <a:t>Eigene Binaries mit Hexagon NPU-Unterstützung verfügbar!</a:t>
            </a:r>
          </a:p>
        </p:txBody>
      </p:sp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In 3 Schritten starten &amp; Die 6 wichtigsten CLI-Flags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23444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  <a:latin typeface="Bahnschrift"/>
              </a:defRPr>
            </a:pPr>
            <a:r>
              <a:t>IN 3 SCHRITTEN ZUM STARTKLAREN LLM-SERVER:</a:t>
            </a:r>
          </a:p>
          <a:p>
            <a:r>
              <a:rPr sz="1050" b="1">
                <a:solidFill>
                  <a:srgbClr val="F5F5F7"/>
                </a:solidFill>
                <a:latin typeface="Bahnschrift"/>
              </a:rPr>
              <a:t>1. ZIP entpacken: </a:t>
            </a:r>
            <a:r>
              <a:rPr sz="1000">
                <a:solidFill>
                  <a:srgbClr val="8C909C"/>
                </a:solidFill>
                <a:latin typeface="Bahnschrift"/>
              </a:rPr>
              <a:t>Release-Archiv herunterladen und in einen beliebigen Ordner entpacken (z. B. C:\llama oder ~/llama).</a:t>
            </a:r>
          </a:p>
          <a:p>
            <a:r>
              <a:rPr sz="1050" b="1">
                <a:solidFill>
                  <a:srgbClr val="F5F5F7"/>
                </a:solidFill>
                <a:latin typeface="Bahnschrift"/>
              </a:rPr>
              <a:t>2. GGUF ablegen: </a:t>
            </a:r>
            <a:r>
              <a:rPr sz="1000">
                <a:solidFill>
                  <a:srgbClr val="8C909C"/>
                </a:solidFill>
                <a:latin typeface="Bahnschrift"/>
              </a:rPr>
              <a:t>Gewünschtes Modell von HuggingFace (z. B. Qwen 3.8 27B Q4_K_M) direkt daneben speichern.</a:t>
            </a:r>
          </a:p>
          <a:p>
            <a:r>
              <a:rPr sz="1050" b="1">
                <a:solidFill>
                  <a:srgbClr val="F5F5F7"/>
                </a:solidFill>
                <a:latin typeface="Bahnschrift"/>
              </a:rPr>
              <a:t>3. Server starten: </a:t>
            </a:r>
            <a:r>
              <a:rPr sz="1000">
                <a:solidFill>
                  <a:srgbClr val="2EA043"/>
                </a:solidFill>
                <a:latin typeface="Consolas"/>
              </a:rPr>
              <a:t>./llama-server -m qwen27b.gguf -ngl 99 -fa -c 8192 --port 8080 (Fertig! WebUI &amp; API aktiv).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788920"/>
          <a:ext cx="1072865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Flag / Parameter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Empfohlener Wert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Funktion &amp; Performance-Impact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-m / --model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pfad/zum/modell.gguf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Pfad zur GGUF-Datei (Single-File Container).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-ngl / --n-gpu-layers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99 (oder 0 für CPU)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Wie viele Layer auf GPU geschoben werden. 99 = alles auf GPU, 0 = reine CPU.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-c / --ctx-size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8192 (oder 32768)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Kontextgröße in Tokens. llama.cpp allokiert KV-Cache exakt passend dazu.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-fa / --flash-attn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(Flag ohne Wert)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Aktiviert Flash Attention. Reduziert VRAM-Bedarf des KV-Cache bei langen Prompts um bis zu 50%!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-t / --threads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Anzahl physischer CPU-Kerne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CPU-Worker Threads. Regel: Niemals Hyperthreading-Kerne mitzählen (bringt Latenz-Spikes).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--port / --host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--port 8080 --host 0.0.0.0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Startet sofort eine OpenAI-kompatible REST-API + eingebaute WebUI!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LIVE-DEMO: llama-server in Action &amp; API-Drop-In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30936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EA043"/>
                </a:solidFill>
                <a:latin typeface="Bahnschrift"/>
              </a:defRPr>
            </a:pPr>
            <a:r>
              <a:t>DER LIVE-DEMO ABLAUF (3 MINUTEN):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1. Terminal-Start: </a:t>
            </a:r>
            <a:r>
              <a:rPr sz="1050">
                <a:solidFill>
                  <a:srgbClr val="8C909C"/>
                </a:solidFill>
                <a:latin typeface="Consolas"/>
              </a:rPr>
              <a:t>./llama-server -m qwen27b.gguf -ngl 99 -fa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2. Log-Inspektion: </a:t>
            </a:r>
            <a:r>
              <a:rPr sz="1050">
                <a:solidFill>
                  <a:srgbClr val="8C909C"/>
                </a:solidFill>
                <a:latin typeface="Bahnschrift"/>
              </a:rPr>
              <a:t>Schaut auf die Konsolenzeilen: Layer-Offload auf VRAM/Metal, Memory-Map Zeit (&lt;1s!).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3. WebUI im Browser: </a:t>
            </a:r>
            <a:r>
              <a:rPr sz="1050">
                <a:solidFill>
                  <a:srgbClr val="8C909C"/>
                </a:solidFill>
                <a:latin typeface="Consolas"/>
              </a:rPr>
              <a:t>Aufruf von http://localhost:8080. Sofort einsatzbereite Chat-Oberfläche.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4. Prompt-Caching &amp; Streaming: </a:t>
            </a:r>
            <a:r>
              <a:rPr sz="1050">
                <a:solidFill>
                  <a:srgbClr val="8C909C"/>
                </a:solidFill>
                <a:latin typeface="Bahnschrift"/>
              </a:rPr>
              <a:t>Zweite Frage stellen: Beobachtet, wie der Prompt-Cache den Kontext ohne Neuberechnung wiederverwendet!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5. OpenAI Drop-In API: </a:t>
            </a:r>
            <a:r>
              <a:rPr sz="1050">
                <a:solidFill>
                  <a:srgbClr val="8C909C"/>
                </a:solidFill>
                <a:latin typeface="Consolas"/>
              </a:rPr>
              <a:t>curl http://localhost:8080/v1/chat/completions -d '{"model": "..."}'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Highlight: </a:t>
            </a:r>
            <a:r>
              <a:rPr sz="1050">
                <a:solidFill>
                  <a:srgbClr val="F59E0B"/>
                </a:solidFill>
                <a:latin typeface="Bahnschrift"/>
              </a:rPr>
              <a:t>Jedes bestehende Tool (LangChain, LlamaIndex, Open-WebUI) funktioniert sofort ohne Code-Änderung!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71600"/>
            <a:ext cx="423641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1536192"/>
            <a:ext cx="3870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Bahnschrift"/>
              </a:defRPr>
            </a:pPr>
            <a:r>
              <a:t>DIE PUBLIKUMS-WETTE: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Frage ans Publikum: </a:t>
            </a:r>
            <a:r>
              <a:rPr sz="1050">
                <a:solidFill>
                  <a:srgbClr val="8C909C"/>
                </a:solidFill>
                <a:latin typeface="Bahnschrift"/>
              </a:rPr>
              <a:t>Wie viele Tokens/s schafft das Modell auf dieser Maschine?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Typische Schätzungen: </a:t>
            </a:r>
            <a:r>
              <a:rPr sz="1050">
                <a:solidFill>
                  <a:srgbClr val="8C909C"/>
                </a:solidFill>
                <a:latin typeface="Bahnschrift"/>
              </a:rPr>
              <a:t>„5–10 T/s? Ist ja lokal...“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Die Realität:
</a:t>
            </a:r>
            <a:r>
              <a:rPr sz="1050" b="1">
                <a:solidFill>
                  <a:srgbClr val="2EA043"/>
                </a:solidFill>
                <a:latin typeface="Bahnschrift"/>
              </a:rPr>
              <a:t>Auf modernem Laptop/GPU: 35–70+ Tokens/s! Schneller als das menschliche Auge lesen kann.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Prompt Processing vs. Gen: </a:t>
            </a:r>
            <a:r>
              <a:rPr sz="1050">
                <a:solidFill>
                  <a:srgbClr val="8C909C"/>
                </a:solidFill>
                <a:latin typeface="Bahnschrift"/>
              </a:rPr>
              <a:t>llama.cpp zeigt in den Logs genau an: Prompt eval time vs. Token generation time.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Takeaway für Skeptiker: </a:t>
            </a:r>
            <a:r>
              <a:rPr sz="1050">
                <a:solidFill>
                  <a:srgbClr val="8C909C"/>
                </a:solidFill>
                <a:latin typeface="Bahnschrift"/>
              </a:rPr>
              <a:t>Lokale Inferenz fühlt sich heute flotter an als viele überlastete Cloud-APIs zur Peak-Zeit!</a:t>
            </a:r>
          </a:p>
        </p:txBody>
      </p:sp>
      <p:sp>
        <p:nvSpPr>
          <p:cNvPr id="8" name="Rectangle 7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Zusatzmodelle: Vision (--mmproj) &amp; Turbo mit Draft / MTP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Bahnschrift"/>
              </a:defRPr>
            </a:pPr>
            <a:r>
              <a:t>VISION-MODELLE: DAS 2-DATEIEN-PRINZIP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Warum zwei Dateien? </a:t>
            </a:r>
            <a:r>
              <a:rPr sz="1050">
                <a:solidFill>
                  <a:srgbClr val="8C909C"/>
                </a:solidFill>
                <a:latin typeface="Bahnschrift"/>
              </a:rPr>
              <a:t>Sprachmodell (model.gguf) und Vision Projector (mmproj-*.gguf) sind getrennt.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Der Startbefehl:
</a:t>
            </a:r>
            <a:r>
              <a:rPr sz="1050">
                <a:solidFill>
                  <a:srgbClr val="2EA043"/>
                </a:solidFill>
                <a:latin typeface="Consolas"/>
              </a:rPr>
              <a:t>./llama-server -m llama3-vision.gguf --mmproj mmproj-model-f16.gguf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Die Superkraft: </a:t>
            </a:r>
            <a:r>
              <a:rPr sz="1050">
                <a:solidFill>
                  <a:srgbClr val="8C909C"/>
                </a:solidFill>
                <a:latin typeface="Bahnschrift"/>
              </a:rPr>
              <a:t>Volle OCR-, Dokumenten- &amp; Bildanalyse lokal auf dem Rechner. DSGVO-konform für sensible Belege!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Geheimtipp AesSedai: </a:t>
            </a:r>
            <a:r>
              <a:rPr sz="1050">
                <a:solidFill>
                  <a:srgbClr val="8C909C"/>
                </a:solidFill>
                <a:latin typeface="Bahnschrift"/>
              </a:rPr>
              <a:t>Nutzt das FP8-quantisierte mmproj von AesSedai auf HuggingFace! Spart VRAM und läuft genauso akkurat.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Native Alternative: </a:t>
            </a:r>
            <a:r>
              <a:rPr sz="1050">
                <a:solidFill>
                  <a:srgbClr val="8C909C"/>
                </a:solidFill>
                <a:latin typeface="Bahnschrift"/>
              </a:rPr>
              <a:t>Google Gemma 4 bringt Audio + Vision direkt integriert mit!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8A6FF"/>
                </a:solidFill>
                <a:latin typeface="Bahnschrift"/>
              </a:defRPr>
            </a:pPr>
            <a:r>
              <a:t>TURBO-INFERENZ: SPECULATIVE DECODING &amp; MTP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Das Problem:
</a:t>
            </a:r>
            <a:r>
              <a:rPr sz="1050">
                <a:solidFill>
                  <a:srgbClr val="8C909C"/>
                </a:solidFill>
                <a:latin typeface="Bahnschrift"/>
              </a:rPr>
              <a:t>Große Modelle sind Memory-Bandwidth-bound (jedes Token liest alle Gewichte neu ein).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Die Lösung (Draft Model):
</a:t>
            </a:r>
            <a:r>
              <a:rPr sz="1050">
                <a:solidFill>
                  <a:srgbClr val="8C909C"/>
                </a:solidFill>
                <a:latin typeface="Bahnschrift"/>
              </a:rPr>
              <a:t>Ein winziges Draft-Modell (z. B. 0.5B) generiert 5 Token-Vorschläge blitzschnell.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Verifikation im Pulk:
</a:t>
            </a:r>
            <a:r>
              <a:rPr sz="1050">
                <a:solidFill>
                  <a:srgbClr val="8C909C"/>
                </a:solidFill>
                <a:latin typeface="Bahnschrift"/>
              </a:rPr>
              <a:t>Das große Zielmodell (z. B. 27B) prüft alle 5 Tokens in EINEM EINZIGEN Vorwärtsdurchlauf!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Startflag in llama.cpp:
</a:t>
            </a:r>
            <a:r>
              <a:rPr sz="1050">
                <a:solidFill>
                  <a:srgbClr val="F59E0B"/>
                </a:solidFill>
                <a:latin typeface="Consolas"/>
              </a:rPr>
              <a:t>./llama-server -m qwen27b.gguf -md qwen0.5b.gguf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MTP (Multi-Token Prediction):
</a:t>
            </a:r>
            <a:r>
              <a:rPr sz="1050">
                <a:solidFill>
                  <a:srgbClr val="8C909C"/>
                </a:solidFill>
                <a:latin typeface="Bahnschrift"/>
              </a:rPr>
              <a:t>Moderne Architekturen wie DeepSeek bringen eigene MTP-Heads mit – kein zweites Modell nötig!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Ergebnis:
</a:t>
            </a:r>
            <a:r>
              <a:rPr sz="1050">
                <a:solidFill>
                  <a:srgbClr val="8C909C"/>
                </a:solidFill>
                <a:latin typeface="Bahnschrift"/>
              </a:rPr>
              <a:t>1.5x bis 2.5x höhere Generierungsrate bei mathematisch exakt identischem Output!</a:t>
            </a:r>
          </a:p>
        </p:txBody>
      </p:sp>
      <p:sp>
        <p:nvSpPr>
          <p:cNvPr id="8" name="Rectangle 7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Der Architektur-Kompass &amp; Die 5 Goldenen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  <a:latin typeface="Bahnschrift"/>
              </a:defRPr>
            </a:pPr>
            <a:r>
              <a:t>DER ARCHITEKTUR-KOMPASS: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Single-Stream / CPU / Mac / Lokale Tools:
</a:t>
            </a:r>
            <a:r>
              <a:rPr sz="1200" b="1">
                <a:solidFill>
                  <a:srgbClr val="F59E0B"/>
                </a:solidFill>
                <a:latin typeface="Bahnschrift"/>
              </a:rPr>
              <a:t>➔ llama.cpp  </a:t>
            </a:r>
            <a:r>
              <a:rPr sz="950">
                <a:solidFill>
                  <a:srgbClr val="8C909C"/>
                </a:solidFill>
                <a:latin typeface="Bahnschrift"/>
              </a:rPr>
              <a:t>(Der unangefochtene König für schlanken Betrieb ohne GPU-Zwang.)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Riesen-MoE (DeepSeek) auf Heim-Hardware:
</a:t>
            </a:r>
            <a:r>
              <a:rPr sz="1200" b="1">
                <a:solidFill>
                  <a:srgbClr val="2EA043"/>
                </a:solidFill>
                <a:latin typeface="Bahnschrift"/>
              </a:rPr>
              <a:t>➔ K-Transformers  </a:t>
            </a:r>
            <a:r>
              <a:rPr sz="950">
                <a:solidFill>
                  <a:srgbClr val="8C909C"/>
                </a:solidFill>
                <a:latin typeface="Bahnschrift"/>
              </a:rPr>
              <a:t>(Gewichte im DDR5-RAM, Rechenpfade auf 1-2 GPUs.)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High-Throughput Production-APIs:
</a:t>
            </a:r>
            <a:r>
              <a:rPr sz="1200" b="1">
                <a:solidFill>
                  <a:srgbClr val="2EA043"/>
                </a:solidFill>
                <a:latin typeface="Bahnschrift"/>
              </a:rPr>
              <a:t>➔ vLLM  </a:t>
            </a:r>
            <a:r>
              <a:rPr sz="950">
                <a:solidFill>
                  <a:srgbClr val="8C909C"/>
                </a:solidFill>
                <a:latin typeface="Bahnschrift"/>
              </a:rPr>
              <a:t>(Continuous Batching &amp; PagedAttention für hunderte parallele Nutzer.)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5F5F7"/>
                </a:solidFill>
                <a:latin typeface="Bahnschrift"/>
              </a:rPr>
              <a:t>Agenten &amp; Structured Output Multi-Turn:
</a:t>
            </a:r>
            <a:r>
              <a:rPr sz="1200" b="1">
                <a:solidFill>
                  <a:srgbClr val="2EA043"/>
                </a:solidFill>
                <a:latin typeface="Bahnschrift"/>
              </a:rPr>
              <a:t>➔ SGLang  </a:t>
            </a:r>
            <a:r>
              <a:rPr sz="950">
                <a:solidFill>
                  <a:srgbClr val="8C909C"/>
                </a:solidFill>
                <a:latin typeface="Bahnschrift"/>
              </a:rPr>
              <a:t>(RadixAttention für extreme KV-Cache-Wiederverwendung.)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EA043"/>
                </a:solidFill>
                <a:latin typeface="Bahnschrift"/>
              </a:defRPr>
            </a:pPr>
            <a:r>
              <a:t>5 ERKENNTNISSE ZUM MITNEHMEN: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1. llama.cpp ist Production-Ready: </a:t>
            </a:r>
            <a:r>
              <a:rPr sz="1050">
                <a:solidFill>
                  <a:srgbClr val="8C909C"/>
                </a:solidFill>
                <a:latin typeface="Bahnschrift"/>
              </a:rPr>
              <a:t>Für Single-Stream, CPU, Mac und interne Tools die kostengünstigste Engine überhaupt.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2. Ollama meiden: </a:t>
            </a:r>
            <a:r>
              <a:rPr sz="1050">
                <a:solidFill>
                  <a:srgbClr val="8C909C"/>
                </a:solidFill>
                <a:latin typeface="Bahnschrift"/>
              </a:rPr>
              <a:t>Nutzt direkte Prebuilt-Binaries für volle Transparenz und planbare Latenz.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3. Immer 8-Bit statt 16-Bit: </a:t>
            </a:r>
            <a:r>
              <a:rPr sz="1050">
                <a:solidFill>
                  <a:srgbClr val="8C909C"/>
                </a:solidFill>
                <a:latin typeface="Bahnschrift"/>
              </a:rPr>
              <a:t>Q8_0 halbiert den RAM-Bedarf ohne messbaren Qualitätsverlust.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4. Größeres Modell @ 4-Bit &gt; Kleineres @ 8-Bit: </a:t>
            </a:r>
            <a:r>
              <a:rPr sz="1050">
                <a:solidFill>
                  <a:srgbClr val="8C909C"/>
                </a:solidFill>
                <a:latin typeface="Bahnschrift"/>
              </a:rPr>
              <a:t>Lieber 27B Q4 als 14B Q8 – Intelligenz maximieren!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5. Keine Angst vor C++: </a:t>
            </a:r>
            <a:r>
              <a:rPr sz="1050">
                <a:solidFill>
                  <a:srgbClr val="8C909C"/>
                </a:solidFill>
                <a:latin typeface="Bahnschrift"/>
              </a:rPr>
              <a:t>Download-Kompass nutzen, ZIP entpacken, GGUF reinlegen, ./llama-server starten!</a:t>
            </a:r>
          </a:p>
        </p:txBody>
      </p:sp>
      <p:sp>
        <p:nvSpPr>
          <p:cNvPr id="8" name="Rectangle 7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Rausschmeißer-Quiz, Q&amp;A &amp; Handout-Download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  <a:latin typeface="Bahnschrift"/>
              </a:defRPr>
            </a:pPr>
            <a:r>
              <a:t>DAS RAUSSCHMEISSER-QUIZ (ANTWORTEN ZURUFEN!):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Frage 1: Ihr habt 16 GB RAM zur Verfügung. Welches Modell wählt ihr?
</a:t>
            </a:r>
            <a:r>
              <a:rPr sz="1050" b="1">
                <a:solidFill>
                  <a:srgbClr val="2EA043"/>
                </a:solidFill>
                <a:latin typeface="Bahnschrift"/>
              </a:rPr>
              <a:t>👉 Antwort: 27B in Q4! (Deutlich intelligenter als 14B in Q8 bei gleichem RAM).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Frage 2: Ein Kollege will auf Windows mit RTX 5080 llama.cpp starten. Was muss er laden?
</a:t>
            </a:r>
            <a:r>
              <a:rPr sz="1050" b="1">
                <a:solidFill>
                  <a:srgbClr val="F59E0B"/>
                </a:solidFill>
                <a:latin typeface="Bahnschrift"/>
              </a:rPr>
              <a:t>👉 Antwort: win-cuda-13.4-x64.zip PLUS das dazugehörige cudart-Archiv!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Frage 3: Warum solltet ihr für produktive Chatbots die Finger von Q2 oder Q3 lassen?
</a:t>
            </a:r>
            <a:r>
              <a:rPr sz="1050" b="1">
                <a:solidFill>
                  <a:srgbClr val="DA3633"/>
                </a:solidFill>
                <a:latin typeface="Bahnschrift"/>
              </a:rPr>
              <a:t>👉 Antwort: 'Perplexity Cliff' – Logikfehler und Halluzinationen explodieren!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371600"/>
            <a:ext cx="451073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536192"/>
            <a:ext cx="4114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58A6FF"/>
                </a:solidFill>
                <a:latin typeface="Bahnschrift"/>
              </a:defRPr>
            </a:pPr>
            <a:r>
              <a:t>HANDOUT &amp; RESSOURCEN: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Download-Kompass Handout:
</a:t>
            </a:r>
            <a:r>
              <a:rPr sz="1000">
                <a:solidFill>
                  <a:srgbClr val="8C909C"/>
                </a:solidFill>
                <a:latin typeface="Bahnschrift"/>
              </a:rPr>
              <a:t>PDF im Projektordner: cheatsheets/handout.pdf (Druckfertig in A4 Querformat).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GGUF-Quellen:
</a:t>
            </a:r>
            <a:r>
              <a:rPr sz="1000">
                <a:solidFill>
                  <a:srgbClr val="8C909C"/>
                </a:solidFill>
                <a:latin typeface="Bahnschrift"/>
              </a:rPr>
              <a:t>huggingface.co/unsloth &amp; huggingface.co/AesSedai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Offizielle Releases:
</a:t>
            </a:r>
            <a:r>
              <a:rPr sz="1000">
                <a:solidFill>
                  <a:srgbClr val="8C909C"/>
                </a:solidFill>
                <a:latin typeface="Bahnschrift"/>
              </a:rPr>
              <a:t>github.com/ggml-org/llama.cpp/releases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F5F7"/>
                </a:solidFill>
                <a:latin typeface="Bahnschrift"/>
              </a:rPr>
              <a:t>Mobile Apps:
</a:t>
            </a:r>
            <a:r>
              <a:rPr sz="1000">
                <a:solidFill>
                  <a:srgbClr val="8C909C"/>
                </a:solidFill>
                <a:latin typeface="Bahnschrift"/>
              </a:rPr>
              <a:t>Pocket AI Lab (iOS) · LM Playground (Android)</a:t>
            </a:r>
          </a:p>
          <a:p>
            <a:pPr algn="ctr">
              <a:spcBef>
                <a:spcPts val="1600"/>
              </a:spcBef>
              <a:defRPr sz="1500" b="1">
                <a:solidFill>
                  <a:srgbClr val="2EA043"/>
                </a:solidFill>
                <a:latin typeface="Bahnschrift"/>
              </a:defRPr>
            </a:pPr>
            <a:r>
              <a:t>Vielen Dank für eure Aufmerksamkeit!</a:t>
            </a:r>
            <a:br/>
            <a:r>
              <a:t>Fragen &amp; Diskussion?</a:t>
            </a:r>
          </a:p>
        </p:txBody>
      </p:sp>
      <p:sp>
        <p:nvSpPr>
          <p:cNvPr id="8" name="Rectangle 7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06 FAZIT &amp; QUIZ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5146</Words>
  <Application>Microsoft Office PowerPoint</Application>
  <PresentationFormat>Widescreen</PresentationFormat>
  <Paragraphs>444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Bahnschrift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Arved Oberstraß</cp:lastModifiedBy>
  <cp:revision>2</cp:revision>
  <dcterms:created xsi:type="dcterms:W3CDTF">2013-01-27T09:14:16Z</dcterms:created>
  <dcterms:modified xsi:type="dcterms:W3CDTF">2026-10-03T17:14:48Z</dcterms:modified>
  <cp:category/>
</cp:coreProperties>
</file>