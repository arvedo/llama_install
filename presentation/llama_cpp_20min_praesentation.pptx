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48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307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0:00 - 1:00 | 1 Minute]</a:t>
            </a:r>
          </a:p>
          <a:p>
            <a:r>
              <a:t>• Einstiegs-Hook &amp; Eisbrecher (Rick-&amp;-Morty-Meme rechts): „Wer von euch hat schon mal eine dicke GPU gekauft – nur um darauf einen Ollama-Daemon laufen zu lassen?“</a:t>
            </a:r>
          </a:p>
          <a:p>
            <a:r>
              <a:t>• Ziel des Talks: In 20 Minuten klären wir, warum 90% aller internen Tools und Hintergrundprozesse auf Standard-Hardware blitzschnell laufen können – ohne Cloud-Kosten und ohne unnötige Wrapper.</a:t>
            </a:r>
          </a:p>
          <a:p>
            <a:r>
              <a:t>• Gliederung: Landschaft → Benchmarks &amp; Modelle → GGUF &amp; Quants → Setup &amp; CLI-Flags → Live-Demo → Fazit &amp; Cheat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1:00 - 2:30 | 1.5 Minuten]</a:t>
            </a:r>
          </a:p>
          <a:p>
            <a:r>
              <a:t>• Die zwei Lager erklären:</a:t>
            </a:r>
          </a:p>
          <a:p>
            <a:r>
              <a:t>  - Links (Ollama, llama.cpp): Dynamisch. Startet in 1 Sekunde, belegt nur das Nötigste, blockiert Hardware nicht dauerhaft.</a:t>
            </a:r>
          </a:p>
          <a:p>
            <a:r>
              <a:t>  - Rechts (vLLM, SGLang): Pre-allocated. Belegt sofort 90% VRAM für PagedAttention / RadixAttention, um Hunderte parallele Nutzer zu bedienen.</a:t>
            </a:r>
          </a:p>
          <a:p>
            <a:r>
              <a:t>• K-Transformers als Sonderrolle: Hält MoE-Gewichte (z. B. DeepSeek) im normalen DDR5-System-RAM, Attention auf GPU.</a:t>
            </a:r>
          </a:p>
          <a:p>
            <a:r>
              <a:t>• Kernaussage: Vergleicht Äpfel mit Äpfeln – llama.cpp und vLLM haben völlig unterschiedliche Zielarchitekturen!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2:30 - 4:00 | 1.5 Minuten]</a:t>
            </a:r>
          </a:p>
          <a:p>
            <a:r>
              <a:t>• Wann llama.cpp? Genau die 5 Schlüsselbereiche: Prototyping, Single-Stream, CPU/Mischbetrieb, Apple Silicon und Mobile Apps.</a:t>
            </a:r>
          </a:p>
          <a:p>
            <a:r>
              <a:t>• Die Macht kleiner Apps betonen: Die meisten Workflows brauchen keinen 8x H100 Cluster – 20 bis 50 T/s lokal reichen völlig aus.</a:t>
            </a:r>
          </a:p>
          <a:p>
            <a:r>
              <a:t>• Bell-Curve-Meme aufgreifen: Am Anfang will man die größte GPU, in der Mitte verliert man sich im VRAM-Kaufrausch, und die echten Profis lassen pragmatisch 4B/8B auf der CPU laufen!</a:t>
            </a:r>
          </a:p>
          <a:p>
            <a:r>
              <a:t>• Erwähnung: Pocket AI Lab (iOS) und LM Playground (Android).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4:00 - 4:45 | 45 Sekunden]</a:t>
            </a:r>
          </a:p>
          <a:p>
            <a:r>
              <a:t>• Publikumsinteraktion:</a:t>
            </a:r>
          </a:p>
          <a:p>
            <a:r>
              <a:t>  - „Hand aufs Herz: Wer von euch war bei ChatGPT 3.5 oder GPT-4 dabei?“ (Kurz Hände zählen).</a:t>
            </a:r>
          </a:p>
          <a:p>
            <a:r>
              <a:t>  - „Und wer nutzt heute aktiv Claude – Sonnet oder Opus?“ (Hände zählen).</a:t>
            </a:r>
          </a:p>
          <a:p>
            <a:r>
              <a:t>• Storytelling: „Erinnert euch, wie baff wir alle waren, als GPT-4 das Bar-Exam bestand oder Claude 3 Code schrieb. Wir dachten: Das geht nur in gigantischen Microsoft- oder AWS-Rechenzentren.“</a:t>
            </a:r>
          </a:p>
          <a:p>
            <a:r>
              <a:t>• Überleitung: „Schauen wir uns an, wo die Modelle eures Einstiegs heute stehen – zuerst ChatGPT, dann Claude, und dann die Open-Weights-Realität!“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4:45 - 5:30 | 45 Sekunden]</a:t>
            </a:r>
          </a:p>
          <a:p>
            <a:r>
              <a:t>• Auf die Säulen zeigen:</a:t>
            </a:r>
          </a:p>
          <a:p>
            <a:r>
              <a:t>  - GPT-4o (Mar): Steht bei Score 9! Dieser weltweite Standard von 2024 ist heute der unterste Balken der Grafik!</a:t>
            </a:r>
          </a:p>
          <a:p>
            <a:r>
              <a:t>  - GPT-4.1: Score 13.</a:t>
            </a:r>
          </a:p>
          <a:p>
            <a:r>
              <a:t>  - GPT-5 (high): Score 23.</a:t>
            </a:r>
          </a:p>
          <a:p>
            <a:r>
              <a:t>  - GPT-5.2 (xhigh): Score 30.</a:t>
            </a:r>
          </a:p>
          <a:p>
            <a:r>
              <a:t>  - GPT-5.5 (xhigh): Score 38.</a:t>
            </a:r>
          </a:p>
          <a:p>
            <a:r>
              <a:t>  - GPT-6 Astra: Score 53.</a:t>
            </a:r>
          </a:p>
          <a:p>
            <a:r>
              <a:t>• Kernaussage: „Behaltet diesen Score von 9 (GPT-4o) und 30 (GPT-5.2) im Kopf. Genau hier passiert jetzt das Unglaubliche.“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5:30 - 6:15 | 45 Sekunden]</a:t>
            </a:r>
          </a:p>
          <a:p>
            <a:r>
              <a:t>• Für die Claude-Fraktion:</a:t>
            </a:r>
          </a:p>
          <a:p>
            <a:r>
              <a:t>  - Claude 3 Opus: Steht ebenfalls bei Score 9! Genau dort, wo GPT-4o steht.</a:t>
            </a:r>
          </a:p>
          <a:p>
            <a:r>
              <a:t>  - Claude 4 Opus: Score 21.</a:t>
            </a:r>
          </a:p>
          <a:p>
            <a:r>
              <a:t>  - Claude Opus 4.5: Score 29.</a:t>
            </a:r>
          </a:p>
          <a:p>
            <a:r>
              <a:t>  - Claude Opus 4.6: Score 32.</a:t>
            </a:r>
          </a:p>
          <a:p>
            <a:r>
              <a:t>  - Claude Opus 5.5: Score 58 (Spitzenreiter).</a:t>
            </a:r>
          </a:p>
          <a:p>
            <a:r>
              <a:t>• Der Cliffhanger: „Opus 4.6 bei Score 32 ist ein absolutes Coding-Biest. Wie nah kommen wir daran ran, wenn wir KEIN Geld für Anthropic-Tokens zahlen wollen?“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6:15 - 7:15 | 1 Minute]</a:t>
            </a:r>
          </a:p>
          <a:p>
            <a:r>
              <a:t>• Die Sensation aufdecken:</a:t>
            </a:r>
          </a:p>
          <a:p>
            <a:r>
              <a:t>  - Qwen 3.8 Flash-Next: Score 40! Schlägt GPT-5.5 (Score 38) und deklassiert Opus 4.6 (Score 32)!</a:t>
            </a:r>
          </a:p>
          <a:p>
            <a:r>
              <a:t>  - Qwen 3.8 27B: Score 34! Läuft quantisiert auf einer einzigen RTX 4090 oder einem MacBook Pro mit 32 GB RAM – und schlägt Claude Opus 4.6!</a:t>
            </a:r>
          </a:p>
          <a:p>
            <a:r>
              <a:t>  - Gemma 4 E4B: Score 9! Ein kompaktes 4B-Modell erreicht das Niveau von GPT-4o und Claude 3 Opus – und bringt native Audio- &amp; Bildverarbeitung mit!</a:t>
            </a:r>
          </a:p>
          <a:p>
            <a:r>
              <a:t>• Zu den gelben Pfeilen (Ehrlichkeit):</a:t>
            </a:r>
          </a:p>
          <a:p>
            <a:r>
              <a:t>  - K2 Horizon MoVA (Score 25): Spannendes Modell, aber die llama.cpp Architekturunterstützung ist noch ganz frisch/unausgereift.</a:t>
            </a:r>
          </a:p>
          <a:p>
            <a:r>
              <a:t>  - Nemotron 3.5 Lightning (Score 13): Qualität eher mittelmäßig ('meh'), aber ALLES ist offengelegt – 100% transparente Trainingsdaten für Enterprise-Compliance!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7:15 - 8:30 | 1 Minute 15 Sek]</a:t>
            </a:r>
          </a:p>
          <a:p>
            <a:r>
              <a:t>• Das ist die Orientierungsfolie für die Praxis:</a:t>
            </a:r>
          </a:p>
          <a:p>
            <a:r>
              <a:t>  - Wer Coding &amp; Reasoning will: Qwen 3.8 (Flash-Next oder 27B in Q4_K_M).</a:t>
            </a:r>
          </a:p>
          <a:p>
            <a:r>
              <a:t>  - Wer Audio UND Bilder verarbeiten will: Google Gemma 4 (E4B schlägt GPT-4o, 12B schlägt GPT-4.1).</a:t>
            </a:r>
          </a:p>
          <a:p>
            <a:r>
              <a:t>  - Wer minimale Ressourcen hat (Laptop/Handy): Liquid AI LFM 2.5.</a:t>
            </a:r>
          </a:p>
          <a:p>
            <a:r>
              <a:t>  - Wer Firmen-Compliance &amp; offene Daten braucht: Nvidia Nemotron 3.5 Lightning.</a:t>
            </a:r>
          </a:p>
          <a:p>
            <a:r>
              <a:t>  - Vorbehalt bei K2 Horizon: Warten, bis der llama.cpp Main-Branch die MoVA-Architektur voll ausgereift unterstützt.</a:t>
            </a:r>
          </a:p>
          <a:p>
            <a:r>
              <a:t>• Überleitung: „Jetzt wissen wir, WELCHE Modelle wir wollen. Aber in welchem Format laden wir sie herunter? Willkommen bei GGUF!“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8:30 - 9:45 | 1 Minute 15 Sek]</a:t>
            </a:r>
          </a:p>
          <a:p>
            <a:r>
              <a:t>• Erklären, was GGUF ausmacht: Kein Abhängigkeiten-Chaos mehr. Eine Datei reicht.</a:t>
            </a:r>
          </a:p>
          <a:p>
            <a:r>
              <a:t>• Community-Anekdote zu den Memes: Sobald Meta, Mistral oder Qwen neue Gewichte veröffentlichen, fluten innerhalb von 5 Minuten Kommentare wie „WEN GGUF?“ HuggingFace.</a:t>
            </a:r>
          </a:p>
          <a:p>
            <a:r>
              <a:t>• Warum? Weil erst mit GGUF 95% der Entwickler das Modell überhaupt auf ihren Laptops oder Workstations ausführen können!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9:45 - 11:15 | 1.5 Minuten]</a:t>
            </a:r>
          </a:p>
          <a:p>
            <a:r>
              <a:t>• Die wissenschaftliche Botschaft: Q8 statt F16 ist ein Geschenk. Es gibt keinen Grund für F16.</a:t>
            </a:r>
          </a:p>
          <a:p>
            <a:r>
              <a:t>• Krumme Bits (5-Bit, 6-Bit): Erklären, dass Hardware nativ in 4, 8, 16 Bit rechnet. 5/6 Bit kosten Rechenzeit beim Entpacken.</a:t>
            </a:r>
          </a:p>
          <a:p>
            <a:r>
              <a:t>• Memes rechts aufgreifen:</a:t>
            </a:r>
          </a:p>
          <a:p>
            <a:r>
              <a:t>  - Oben das Unsloth-Meme: Große Freude, als Daniel Han-Chen GLM-4.6 als GGUF bringt – und dann der Schock: Q8_0 hat 379 GB!</a:t>
            </a:r>
          </a:p>
          <a:p>
            <a:r>
              <a:t>  - Unten der Spanier (El Risitas): „It's smaller they said, it's optimized they said!“ – wenn Leute versuchen, 70B in 2-Bit zu quetschen und nur noch Müll rauskommt.</a:t>
            </a:r>
          </a:p>
          <a:p>
            <a:r>
              <a:t>• DIE GOLDENE REGEL betonen: Mehr Parameter bei 4-Bit schlägt weniger Parameter bei 8-Bit!</a:t>
            </a:r>
          </a:p>
          <a:p>
            <a:r>
              <a:t>• Überleitung: Wer ist eigentlich dieser 'danielhanchen' von Unsloth – und wo holt man sich GGUFs am besten?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11:15 - 12:30 | 1 Minute 15 Sek]</a:t>
            </a:r>
          </a:p>
          <a:p>
            <a:r>
              <a:t>• Die beiden wichtigsten HuggingFace-Quellen vorstellen:</a:t>
            </a:r>
          </a:p>
          <a:p>
            <a:r>
              <a:t>  - Unsloth (Daniel &amp; Michael Han-Chen): Der Platzhirsch. Extrem schnell, saubere Dynamic Quants.</a:t>
            </a:r>
          </a:p>
          <a:p>
            <a:r>
              <a:t>  - AesSedai: Der Underdog! Aussprache erklären: [Eis Se-dai] wie die Magierinnen aus 'Wheel of Time'.</a:t>
            </a:r>
          </a:p>
          <a:p>
            <a:r>
              <a:t>• Das Geheimnis von AesSedai betonen:</a:t>
            </a:r>
          </a:p>
          <a:p>
            <a:r>
              <a:t>  - Bei Vision-Modellen (Llama-Vision, Qwen-VL) liegt der Flaschenhals oft am Vision Projector (`mmproj`).</a:t>
            </a:r>
          </a:p>
          <a:p>
            <a:r>
              <a:t>  - Offizielle Quellen und Unsloth packen den Projector meist nur in BF16 (braucht unnötig viel Speicher).</a:t>
            </a:r>
          </a:p>
          <a:p>
            <a:r>
              <a:t>  - AesSedai quantisiert den Projector in FP8!</a:t>
            </a:r>
          </a:p>
          <a:p>
            <a:r>
              <a:t>  - Man kann das Unsloth-Sprachmodell nehmen und die AesSedai FP8-mmproj-Datei dazustecken: Läuft perfekt und spart sofort 500 MB bis 1.5 GB VRAM!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12:30 - 13:30 | 1 Minute]</a:t>
            </a:r>
          </a:p>
          <a:p>
            <a:r>
              <a:t>• Auf die Release-Seite von llama.cpp gehen: Über 25 verschiedene ZIP-Dateien!</a:t>
            </a:r>
          </a:p>
          <a:p>
            <a:r>
              <a:t>• Entwickler verzweifeln oft: „Welche Datei brauche ich?“</a:t>
            </a:r>
          </a:p>
          <a:p>
            <a:r>
              <a:t>• Der Entscheidungsbaum links löst das in 5 Sekunden auf.</a:t>
            </a:r>
          </a:p>
          <a:p>
            <a:r>
              <a:t>• WICHTIGSTE FALLSTRICKE betonen:</a:t>
            </a:r>
          </a:p>
          <a:p>
            <a:r>
              <a:t>  - Bei Nvidia immer die `cudart`-Libraries mitnehmen, sonst startet `llama-server.exe` mit fehlender DLL!</a:t>
            </a:r>
          </a:p>
          <a:p>
            <a:r>
              <a:t>  - Wer keine GPU hat: CPU-Builds laufen dank AVX2 erstaunlich flott.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13:30 - 14:30 | 1 Minute]</a:t>
            </a:r>
          </a:p>
          <a:p>
            <a:r>
              <a:t>• Apple Silicon ist der Liebling von llama.cpp: Kein Kopiervorgang über PCIe. Unified Memory bedeutet: Ein 64GB Mac kann ein 30B Modell komplett in Metal halten.</a:t>
            </a:r>
          </a:p>
          <a:p>
            <a:r>
              <a:t>• Mobile Inferenz ist kein Spielzeug mehr:</a:t>
            </a:r>
          </a:p>
          <a:p>
            <a:r>
              <a:t>  - Pocket AI Lab (iOS): Einfach GGUF in die Dateien-App werfen und auf dem iPhone ausführen.</a:t>
            </a:r>
          </a:p>
          <a:p>
            <a:r>
              <a:t>  - LM Playground (Android): Open-Source auf GitHub &amp; Play Store, läuft auf modernen Chips mit 20+ Tokens/s.</a:t>
            </a:r>
          </a:p>
          <a:p>
            <a:r>
              <a:t>• Überleitung: Wir haben das Binary, wir haben das GGUF – wie starten wir es jetzt in 3 Schritten?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14:00 - 15:00 | 1 Minute]</a:t>
            </a:r>
          </a:p>
          <a:p>
            <a:r>
              <a:t>• Die 7 Flags durchgehen:</a:t>
            </a:r>
          </a:p>
          <a:p>
            <a:r>
              <a:t>  - `-m` &amp; `-c`: Pflichtparameter für Modell und Kontextfenster.</a:t>
            </a:r>
          </a:p>
          <a:p>
            <a:r>
              <a:t>  - `-ctk / -ctv q8_0`: KV-Cache halbieren! Spart wertvollen VRAM bei langen Prompts.</a:t>
            </a:r>
          </a:p>
          <a:p>
            <a:r>
              <a:t>  - `--mmproj`: Für Multimodalität (Vision/Audio) wie Gemma 4 oder Qwen-VL.</a:t>
            </a:r>
          </a:p>
          <a:p>
            <a:r>
              <a:t>  - `-md`: Speculative Decoding / MTP – kleines Drafter-Modell rät vor, großes validiert im Pulk (2–3x Speedup bei Dense-Modellen!).</a:t>
            </a:r>
          </a:p>
          <a:p>
            <a:r>
              <a:t>  - `-t`: Nur physische Kerne angeben.</a:t>
            </a:r>
          </a:p>
          <a:p>
            <a:r>
              <a:t>  - `--port / --host`: Sofortige API-Bereitstellung für externe Clients.</a:t>
            </a:r>
          </a:p>
          <a:p>
            <a:r>
              <a:t>  - Hinweis: Reasoning- und Tool-Parser sind in modernen GGUFs schon voll integriert und werden automatisch erkannt!</a:t>
            </a:r>
          </a:p>
          <a:p>
            <a:r>
              <a:t>• Überleitung: Jetzt werfen wir genau diesen Befehl live an und schauen uns den Server an!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15:00 - 16:00 | 1 Minute]</a:t>
            </a:r>
          </a:p>
          <a:p>
            <a:r>
              <a:t>• Multimodalität: Zeigen, dass man mit --mmproj einfach Bilder und Audio analysieren kann. Extrem wertvoll für DSGVO-konforme Rechnungs- und Beleganalyse.</a:t>
            </a:r>
          </a:p>
          <a:p>
            <a:r>
              <a:t>• Nochmals betonen: Holt euch die FP8 mmproj-Dateien von AesSedai! Spart wertvollen VRAM.</a:t>
            </a:r>
          </a:p>
          <a:p>
            <a:r>
              <a:t>• Speculative Decoding / MTP: Das Konzept erklären: Ein kleines Modell rät vor, das große bestätigt im Pulk.</a:t>
            </a:r>
          </a:p>
          <a:p>
            <a:r>
              <a:t>• Ergebnis: 1.5x bis 2.5x Speedup ohne jeden Qualitätsverlust.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16:00 - 18:30 | 2.5 Minuten Live-Demo]</a:t>
            </a:r>
          </a:p>
          <a:p>
            <a:r>
              <a:t>• JETZT ZUM TERMINAL WECHSELN!</a:t>
            </a:r>
          </a:p>
          <a:p>
            <a:r>
              <a:t>• Befehl ausführen, Terminal auf die linke Bildschirmhälfte, Browser auf die rechte.</a:t>
            </a:r>
          </a:p>
          <a:p>
            <a:r>
              <a:t>• Vor dem Absenden des ersten Prompts kurz fragen: „Wer wettet mit? Wie viele Tokens pro Sekunde kriegen wir raus?“</a:t>
            </a:r>
          </a:p>
          <a:p>
            <a:r>
              <a:t>• Frage eintippen, Enter drücken, Tokens streamen sehen.</a:t>
            </a:r>
          </a:p>
          <a:p>
            <a:r>
              <a:t>• In der Konsole zeigen: „llama_print_timings: prompt eval time = 120 ms, eval time = 28 ms per token (35.7 T/s)“.</a:t>
            </a:r>
          </a:p>
          <a:p>
            <a:r>
              <a:t>• Zeigen: Eingebautes WebUI auf Port 8080 hat sogar Settings für Temperatur, Top-P und Grammars!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18:30 - 19:15 | 45 Sekunden]</a:t>
            </a:r>
          </a:p>
          <a:p>
            <a:r>
              <a:t>• Die Quintessenz zusammenfassen:</a:t>
            </a:r>
          </a:p>
          <a:p>
            <a:r>
              <a:t>  - Wer interne Tools baut: llama.cpp.</a:t>
            </a:r>
          </a:p>
          <a:p>
            <a:r>
              <a:t>  - Wer tausende Cloud-Kunden bedient: vLLM / SGLang.</a:t>
            </a:r>
          </a:p>
          <a:p>
            <a:r>
              <a:t>• Die 5 Goldenen Regeln noch einmal kurz im Raum nachhallen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[ZEIT: 19:15 - 20:00 | 45 Sekunden + Q&amp;A]</a:t>
            </a:r>
          </a:p>
          <a:p>
            <a:r>
              <a:t>• Auf die bereitgestellten Ressourcen verweisen:</a:t>
            </a:r>
          </a:p>
          <a:p>
            <a:r>
              <a:t>  - GitHub Repo mit allen Folien, Cheat Sheets und Beispielskripten.</a:t>
            </a:r>
          </a:p>
          <a:p>
            <a:r>
              <a:t>  - Handout-PDF im Ordner cheatsheets/handout.pdf zum direkten Ausdrucken.</a:t>
            </a:r>
          </a:p>
          <a:p>
            <a:r>
              <a:t>  - Empfohlene GGUF-Quellen: Unsloth für schnelle Drops &amp; MoE-Quants; AesSedai für FP8 mmproj-Dateien.</a:t>
            </a:r>
          </a:p>
          <a:p>
            <a:r>
              <a:t>  - Tools für den Alltag: Continue.dev in VS Code, Open-WebUI und Smartphone-Apps.</a:t>
            </a:r>
          </a:p>
          <a:p>
            <a:r>
              <a:t>• Herzlicher Dank an das Publikum und Diskussion / Q&amp;A eröffnen!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.png"/><Relationship Id="rId7" Type="http://schemas.openxmlformats.org/officeDocument/2006/relationships/slide" Target="slide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2.png"/><Relationship Id="rId7" Type="http://schemas.openxmlformats.org/officeDocument/2006/relationships/slide" Target="slide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3.png"/><Relationship Id="rId7" Type="http://schemas.openxmlformats.org/officeDocument/2006/relationships/slide" Target="slide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4.png"/><Relationship Id="rId7" Type="http://schemas.openxmlformats.org/officeDocument/2006/relationships/slide" Target="slide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5.png"/><Relationship Id="rId7" Type="http://schemas.openxmlformats.org/officeDocument/2006/relationships/slide" Target="slide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6.jpg"/><Relationship Id="rId7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1.xml"/><Relationship Id="rId10" Type="http://schemas.openxmlformats.org/officeDocument/2006/relationships/slide" Target="slide18.xml"/><Relationship Id="rId4" Type="http://schemas.openxmlformats.org/officeDocument/2006/relationships/image" Target="../media/image7.jpg"/><Relationship Id="rId9" Type="http://schemas.openxmlformats.org/officeDocument/2006/relationships/slide" Target="slide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8.jpg"/><Relationship Id="rId7" Type="http://schemas.openxmlformats.org/officeDocument/2006/relationships/slide" Target="slide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1.xml"/><Relationship Id="rId10" Type="http://schemas.openxmlformats.org/officeDocument/2006/relationships/slide" Target="slide18.xml"/><Relationship Id="rId4" Type="http://schemas.openxmlformats.org/officeDocument/2006/relationships/image" Target="../media/image9.jpg"/><Relationship Id="rId9" Type="http://schemas.openxmlformats.org/officeDocument/2006/relationships/slide" Target="slide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0.png"/><Relationship Id="rId7" Type="http://schemas.openxmlformats.org/officeDocument/2006/relationships/slide" Target="slide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1.png"/><Relationship Id="rId7" Type="http://schemas.openxmlformats.org/officeDocument/2006/relationships/slide" Target="slide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1.xml"/><Relationship Id="rId9" Type="http://schemas.openxmlformats.org/officeDocument/2006/relationships/slide" Target="slide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.xml"/><Relationship Id="rId7" Type="http://schemas.openxmlformats.org/officeDocument/2006/relationships/slide" Target="slide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20-MINUTEN DEEP DIVE: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5F5F7"/>
                </a:solidFill>
                <a:latin typeface="Bahnschrift"/>
              </a:defRPr>
            </a:pPr>
            <a:r>
              <a:t>llama.cpp</a:t>
            </a:r>
          </a:p>
          <a:p>
            <a:pPr>
              <a:spcAft>
                <a:spcPts val="2800"/>
              </a:spcAft>
              <a:defRPr sz="2100" b="1">
                <a:solidFill>
                  <a:srgbClr val="F59E0B"/>
                </a:solidFill>
                <a:latin typeface="Bahnschrift"/>
              </a:defRPr>
            </a:pPr>
            <a:r>
              <a:t>Lokale LLM-Inferenz ohne Cloud-Zwang &amp; Overhead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F5F5F7"/>
                </a:solidFill>
                <a:latin typeface="Bahnschrift"/>
              </a:rPr>
              <a:t>Wann llama.cpp?  ·  </a:t>
            </a:r>
            <a:r>
              <a:rPr sz="1550">
                <a:solidFill>
                  <a:srgbClr val="8C909C"/>
                </a:solidFill>
                <a:latin typeface="Bahnschrift"/>
              </a:rPr>
              <a:t>Single-Stream, CPU/Misch-Deployment, Apple Silicon &amp; Edge.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F5F5F7"/>
                </a:solidFill>
                <a:latin typeface="Bahnschrift"/>
              </a:rPr>
              <a:t>Die Macht kleiner Apps: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Braucht dein Workflow (k)einen GPU-Cluster?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F5F5F7"/>
                </a:solidFill>
                <a:latin typeface="Bahnschrift"/>
              </a:rPr>
              <a:t>GGUF &amp; Quantisierung: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Welche Quantisierung wähle ich wann?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F5F5F7"/>
                </a:solidFill>
                <a:latin typeface="Bahnschrift"/>
              </a:rPr>
              <a:t>Live-Demo &amp; Setup: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Von Zero zu Token-Streaming in unter 60 Sekunden.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ensys_exposed_ins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1517904"/>
            <a:ext cx="3108960" cy="4681728"/>
          </a:xfrm>
          <a:prstGeom prst="rect">
            <a:avLst/>
          </a:prstGeom>
        </p:spPr>
      </p:pic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Die Inferenz-Landschaft: Fünf Engines im Vergleich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Merkmal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llama.cpp</a:t>
                      </a:r>
                    </a:p>
                  </a:txBody>
                  <a:tcPr>
                    <a:solidFill>
                      <a:srgbClr val="2628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K-Transformers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vLLM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SGLang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Architektur-Trenner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 (CPU/GPU)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Speicher-Verwaltung</a:t>
                      </a:r>
                      <a:br/>
                      <a:r>
                        <a:t>(VRAM)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Allokiert dynamisch; gibt bei Inaktivität frei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Minimaler Basis-VRAM; allokiert KV-Cache zur Runtime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Hybrid: MoE im RAM, aktive Pfade auf GPU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~90% VRAM für PagedAttention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fast gesamten VRAM (RadixAttention)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Hardware-Fokus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Lokale Rechner, Apple Silicon, Single-GPU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CPU-only, Apple Silicon, VRAM/RAM-Offload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Extremes Offload (große MoEs auf Heim-RAM)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Batching / Durchsatz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Gering (Single-User / wenige Anfragen)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Limitiert (primär sequenziell / kleiner Batch)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Limitiert auf Inferenz großer Hybrid-Modelle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(Continuous Batching)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+ extrem schnell bei mehrstufigen Workflows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Einsatz &amp; Fazit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Nur schnelles Ausprobieren; ungeeignet für Prod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Ideal für Prototyping, CPU-Mischbetrieb &amp; Edge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Brücke: Riesen-MoEs auf Consumer-Hardware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Serving &amp; Produktiv-APIs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Agenten, Structured Output &amp; Multi-Turn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Positionierung: Wann llama.cpp?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9496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WANN LLAMA.CPP? (DIE EINSATZFELDER)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1. Prototyping &amp; schnelles Testen: </a:t>
            </a:r>
            <a:r>
              <a:rPr sz="1250">
                <a:solidFill>
                  <a:srgbClr val="8C909C"/>
                </a:solidFill>
                <a:latin typeface="Bahnschrift"/>
              </a:rPr>
              <a:t>Modelle in Sekunden ohne Docker, Registry oder Daemon-Setup starten und evaluieren.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2. Single-Stream Workflows: </a:t>
            </a:r>
            <a:r>
              <a:rPr sz="1250">
                <a:solidFill>
                  <a:srgbClr val="8C909C"/>
                </a:solidFill>
                <a:latin typeface="Bahnschrift"/>
              </a:rPr>
              <a:t>Interne Entwickler-Agenten, CLI-Tools, Hintergrund-Crawler, RAG-Pipelines.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3. CPU- &amp; Misch-Deployment: </a:t>
            </a:r>
            <a:r>
              <a:rPr sz="1250">
                <a:solidFill>
                  <a:srgbClr val="8C909C"/>
                </a:solidFill>
                <a:latin typeface="Bahnschrift"/>
              </a:rPr>
              <a:t>Vorhandene Alt-Server oder Laptops nutzen, statt teuren GPU-Cloud-Speicher zu mieten.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4. Edge &amp; Apple Silicon: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Unified Memory via Metal bis zum letzten Gigabyte ohne VRAM-Kopier-Overhead.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5. Mobile &amp; Offline Apps: </a:t>
            </a:r>
            <a:r>
              <a:rPr sz="1250">
                <a:solidFill>
                  <a:srgbClr val="8C909C"/>
                </a:solidFill>
                <a:latin typeface="Bahnschrift"/>
              </a:rPr>
              <a:t>Pocket AI Lab (iOS) &amp; LM Playground (Android) bringen GGUF direkt aufs Smartphone.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Die Macht kleiner Apps: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90% interner Workflows reichen 20–50 Tokens/s völlig aus (kein GPU-Cluster nötig!).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Hinweis zu Ollama: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Hobbyisten nett – für planbare Latenz, Speicher-Audits und volle Parameterkontrolle ist llama.cpp der direkte Standard.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15081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6_be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011680"/>
            <a:ext cx="4800600" cy="2400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3096" y="461772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„4B on CPU is plenty for my use“</a:t>
            </a:r>
          </a:p>
          <a:p>
            <a:pPr algn="ctr">
              <a:defRPr sz="1350">
                <a:solidFill>
                  <a:srgbClr val="8C909C"/>
                </a:solidFill>
                <a:latin typeface="Bahnschrift"/>
              </a:defRPr>
            </a:pPr>
            <a:r>
              <a:t>Die Bell Curve der lokalen Inferenz: Mehr Pragmatismus, weniger VRAM-Hype.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24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Euer KI-Einstieg: Seid ihr mit ChatGPT oder mit Claude gestartet?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2EA043"/>
                </a:solidFill>
                <a:latin typeface="Bahnschrift"/>
              </a:defRPr>
            </a:pPr>
            <a:r>
              <a:t>TEAM CHATGPT / OPENAI</a:t>
            </a:r>
          </a:p>
          <a:p>
            <a:pPr>
              <a:spcAft>
                <a:spcPts val="1100"/>
              </a:spcAft>
              <a:defRPr sz="1300">
                <a:solidFill>
                  <a:srgbClr val="8C909C"/>
                </a:solidFill>
                <a:latin typeface="Bahnschrift"/>
              </a:defRPr>
            </a:pPr>
            <a:r>
              <a:t>Der globale Einstiegspunkt für Millionen Entwickler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GPT-3.5 (Nov. 2022):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Der globale Aha-Moment für Text- &amp; Chatgenerierung.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GPT-4 (März 2023):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Der Quantensprung: Echtes Reasoning &amp; Code-Verständnis.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GPT-4o (Mai 2024):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Blitzschnell, multimodal – der weltweite Cloud-Standard.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GPT-5 (Aug. 2025) &amp; 5.2 (Dez. 2025):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Der Sprung in autonomes Agenten-Reasoning.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GPT-5.5 (Apr. 2026) &amp; GPT-6 Astra (Sept. 2026):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Test-Time Compute &amp; Frontier-Spitze.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A043"/>
                </a:solidFill>
                <a:latin typeface="Bahnschrift"/>
              </a:rPr>
              <a:t>• Frage an euch: </a:t>
            </a:r>
            <a:r>
              <a:rPr sz="1200" b="1">
                <a:solidFill>
                  <a:srgbClr val="F5F5F7"/>
                </a:solidFill>
                <a:latin typeface="Bahnschrift"/>
              </a:rPr>
              <a:t>Wer von euch war bei GPT-3.5 / GPT-4 schon dabei?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F59E0B"/>
                </a:solidFill>
                <a:latin typeface="Bahnschrift"/>
              </a:defRPr>
            </a:pPr>
            <a:r>
              <a:t>TEAM CLAUDE / ANTHROPIC</a:t>
            </a:r>
          </a:p>
          <a:p>
            <a:pPr>
              <a:spcAft>
                <a:spcPts val="1100"/>
              </a:spcAft>
              <a:defRPr sz="1300">
                <a:solidFill>
                  <a:srgbClr val="8C909C"/>
                </a:solidFill>
                <a:latin typeface="Bahnschrift"/>
              </a:defRPr>
            </a:pPr>
            <a:r>
              <a:t>Die Coding- &amp; Nuancen-Referenz für professionelle Architekten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Claude 3 Opus (März 2024):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Erster Meilenstein, der GPT-4 im Coden spürbar deklassierte.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Claude 3.5 Sonnet (Juni 2024):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Der globale De-facto-Standard für Entwickler-Tools.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Claude Opus 4 (Mai 2025) &amp; 4.5 (Nov. 2025):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Mathematisches Reasoning &amp; Multi-File-Coding.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• Claude Opus 4.6 (Feb. 2026) &amp; 5.5 (Sept. 2026): </a:t>
            </a:r>
            <a:r>
              <a:rPr sz="1200" b="0">
                <a:solidFill>
                  <a:srgbClr val="8C909C"/>
                </a:solidFill>
                <a:latin typeface="Bahnschrift"/>
              </a:rPr>
              <a:t>Die Benchmark-Spitze proprietärer Modelle.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Bahnschrift"/>
              </a:rPr>
              <a:t>• Frage an euch: </a:t>
            </a:r>
            <a:r>
              <a:rPr sz="1200" b="1">
                <a:solidFill>
                  <a:srgbClr val="F5F5F7"/>
                </a:solidFill>
                <a:latin typeface="Bahnschrift"/>
              </a:rPr>
              <a:t>Wer nutzt heute bevorzugt Claude für Architektur &amp;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728655" cy="105156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132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59E0B"/>
                </a:solidFill>
                <a:latin typeface="Bahnschrift"/>
              </a:rPr>
              <a:t>DIE FUNDAMENTALE REFLEXION: </a:t>
            </a:r>
            <a:r>
              <a:rPr sz="1250">
                <a:solidFill>
                  <a:srgbClr val="F5F5F7"/>
                </a:solidFill>
                <a:latin typeface="Bahnschrift"/>
              </a:rPr>
              <a:t>Erinnert ihr euch an das Gefühl, wie unerreichbar gut sich GPT-4 oder Claude 3 damals anfühlten? Schauen wir uns an, wo diese Modelle heute im Benchmark stehen – und wie viel dieser Intelligenz ihr heute vollkommen lokal und offline auf eurem Laptop betreiben könnt!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1: Wo steht die ChatGPT-Familie heute?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2: Wo steht die Claude-Familie?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anthr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Benchmark 3: Open-Weights Realitäts-Check auf Augenhöhe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enchmark_open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Cheat Sheet: Die besten Open-Weights Modelle für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35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26464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2EA043"/>
                </a:solidFill>
                <a:latin typeface="Bahnschrift"/>
              </a:defRPr>
            </a:pPr>
            <a:r>
              <a:t>1. HIGH-END REASONING &amp; CODING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Qwen 3.8 (27B &amp; Flash-Next) | Score 40 (schlägt GPT-5.5 &amp; Claude Opus 4.6!)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Q4_K_M ~16.5 GB  |  Q8_0 ~29.5 GB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~2.5 GB  →  Q8_0 (~1.2 GB via -ctk/-ctv q8_0)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Speculative Decoding: </a:t>
            </a:r>
            <a:r>
              <a:rPr sz="1100">
                <a:solidFill>
                  <a:srgbClr val="8C909C"/>
                </a:solidFill>
                <a:latin typeface="Bahnschrift"/>
              </a:rPr>
              <a:t>+0.8 GB für Drafter / MTP (liefert 2–3x Speedup)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2EA043"/>
                </a:solidFill>
                <a:latin typeface="Bahnschrift"/>
              </a:rPr>
              <a:t>Q4: ~18.5 GB (ideal für 24 GB GPU / 32 GB RAM) | Q8: ~33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35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36792" y="1426464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58A6FF"/>
                </a:solidFill>
                <a:latin typeface="Bahnschrift"/>
              </a:defRPr>
            </a:pPr>
            <a:r>
              <a:t>2. MULTIMODALE ALLROUNDER (AUDIO + VISION)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Google Gemma 4 (E4B &amp; 12B) | Score 9 (Audio + Vision nativ!)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4B: Q4 ~2.8 GB / Q8 ~4.5 GB  |  12B: Q4 ~7.5 GB / Q8 ~13.5 GB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mmproj (Vision/Audio): </a:t>
            </a:r>
            <a:r>
              <a:rPr sz="1100">
                <a:solidFill>
                  <a:srgbClr val="8C909C"/>
                </a:solidFill>
                <a:latin typeface="Bahnschrift"/>
              </a:rPr>
              <a:t>BF16 ~1.8 GB  →  FP8 nur ~0.9 GB (Geheimtipp AesSedai!)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~0.8 GB  →  Q8_0 ~0.4 GB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58A6FF"/>
                </a:solidFill>
                <a:latin typeface="Bahnschrift"/>
              </a:rPr>
              <a:t>4B in Q4: ~4.1 GB (Budget-PCs/6GB GPU) | 12B in Q4: ~8.8 GB (12GB GPU)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21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12463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F59E0B"/>
                </a:solidFill>
                <a:latin typeface="Bahnschrift"/>
              </a:defRPr>
            </a:pPr>
            <a:r>
              <a:t>3. ULTRA-EFFIZIENZ &amp; EDGE (CPU / MOBILE)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Liquid AI LFM 2.5 (1.2B-Thinking &amp; 2.6B) | Rasante CPU-Inferenz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1.2B: Q4 ~0.8 GB / Q8 ~1.4 GB  |  2.6B: Q4 ~1.7 GB / Q8 ~2.9 GB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KV-Cache &amp; Drafter: </a:t>
            </a:r>
            <a:r>
              <a:rPr sz="1100">
                <a:solidFill>
                  <a:srgbClr val="8C909C"/>
                </a:solidFill>
                <a:latin typeface="Bahnschrift"/>
              </a:rPr>
              <a:t>LNN-Hybrid: Minimaler Cache-Bedarf (&lt;0.3 GB), natives CoT-Thinking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VRAM / RAM-Bedarf: </a:t>
            </a:r>
            <a:r>
              <a:rPr sz="1100">
                <a:solidFill>
                  <a:srgbClr val="F59E0B"/>
                </a:solidFill>
                <a:latin typeface="Bahnschrift"/>
              </a:rPr>
              <a:t>1.2B: ~1.1 GB Total  |  2.6B: ~2.1 GB Total (in Q4)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Hardware-Einsatz: </a:t>
            </a:r>
            <a:r>
              <a:rPr sz="1100">
                <a:solidFill>
                  <a:srgbClr val="8C909C"/>
                </a:solidFill>
                <a:latin typeface="Bahnschrift"/>
              </a:rPr>
              <a:t>Läuft extrem schnell auf CPU, Raspberry Pi &amp; Smartphones (Pocket AI / LM)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621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3712463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BB80F7"/>
                </a:solidFill>
                <a:latin typeface="Bahnschrift"/>
              </a:defRPr>
            </a:pPr>
            <a:r>
              <a:t>4. 100% OFFENE TRAININGSDATEN &amp; COMPLIANCE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Nvidia Nemotron 3.5 Lightning (8B) | Score 13 | 100% offene Daten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Modellgewichte (8B): </a:t>
            </a:r>
            <a:r>
              <a:rPr sz="1100">
                <a:solidFill>
                  <a:srgbClr val="8C909C"/>
                </a:solidFill>
                <a:latin typeface="Bahnschrift"/>
              </a:rPr>
              <a:t>Q4_K_M ~5.1 GB  |  Q8_0 ~9.2 GB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~1.0 GB  →  Q8_0 ~0.5 GB (halbiert via -ctk/-ctv q8_0)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Drafter / MTP Head: </a:t>
            </a:r>
            <a:r>
              <a:rPr sz="1100">
                <a:solidFill>
                  <a:srgbClr val="8C909C"/>
                </a:solidFill>
                <a:latin typeface="Bahnschrift"/>
              </a:rPr>
              <a:t>+0.6 GB Drafter für schnelles Token-Streaming</a:t>
            </a:r>
          </a:p>
          <a:p>
            <a:pPr>
              <a:spcAft>
                <a:spcPts val="300"/>
              </a:spcAft>
            </a:pPr>
            <a:r>
              <a:rPr sz="1150" b="1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BB80F7"/>
                </a:solidFill>
                <a:latin typeface="Bahnschrift"/>
              </a:rPr>
              <a:t>Q4: ~6.2 GB (ideal für 8 GB Laptop-GPUs) | Q8: ~10.3 GB (12 GB VRAM)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07024"/>
            <a:ext cx="10728655" cy="438912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Bahnschrift"/>
              </a:rPr>
              <a:t>SOFTWARE-VORBEHALT: </a:t>
            </a:r>
            <a:r>
              <a:rPr sz="1150">
                <a:solidFill>
                  <a:srgbClr val="CDD0DA"/>
                </a:solidFill>
                <a:latin typeface="Bahnschrift"/>
              </a:rPr>
              <a:t>K2 Horizon MoVA 36B erreicht mit Score 25 hohes Potenzial, die native llama.cpp Unterstützung ist jedoch aktuell noch experimentell.</a:t>
            </a:r>
          </a:p>
        </p:txBody>
      </p:sp>
      <p:sp>
        <p:nvSpPr>
          <p:cNvPr id="14" name="Rectangle 13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5" name="Rectangle 14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6" name="Rectangle 15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7" name="Rectangle 16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8" name="Rectangle 17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9" name="Rectangle 18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Das GGUF-Ökosystem: Warum es die Open-Source-Welt regiert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309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DIE 4 SUPERKRÄFTE VON GGUF (GPT-GENERATED UNIFIED FORMAT):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1. Single-File Container: </a:t>
            </a:r>
            <a:r>
              <a:rPr sz="1300">
                <a:solidFill>
                  <a:srgbClr val="8C909C"/>
                </a:solidFill>
                <a:latin typeface="Bahnschrift"/>
              </a:rPr>
              <a:t>Modellgewichte, Tokenizer-Vokabular, Chat-Template &amp; Metadaten in einer einzigen Datei. Nie wieder fehlende config.json!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2. mmap-Schnelligkeit: </a:t>
            </a:r>
            <a:r>
              <a:rPr sz="1300">
                <a:solidFill>
                  <a:srgbClr val="8C909C"/>
                </a:solidFill>
                <a:latin typeface="Bahnschrift"/>
              </a:rPr>
              <a:t>Zero-Copy Memory Mapping. Modell startet in Sekundenschnelle direkt aus dem Dateisystem, ohne langwierige Deserialisierung.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3. Flexibles Layer-Offloading: </a:t>
            </a:r>
            <a:r>
              <a:rPr sz="1300">
                <a:solidFill>
                  <a:srgbClr val="8C909C"/>
                </a:solidFill>
                <a:latin typeface="Bahnschrift"/>
              </a:rPr>
              <a:t>Granulare Verteilung: Z. B. 24 Layer auf die GPU schieben und die restlichen 8 Layer nahtlos auf der CPU rechnen lassen.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4. Hardware-agnostisch: </a:t>
            </a:r>
            <a:r>
              <a:rPr sz="1300">
                <a:solidFill>
                  <a:srgbClr val="8C909C"/>
                </a:solidFill>
                <a:latin typeface="Bahnschrift"/>
              </a:rPr>
              <a:t>Läuft überall: x86 AVX2/AVX512, ARM64 (Apple Silicon Metal), NVIDIA CUDA, AMD ROCm, Intel SYCL &amp; Vulkan.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Wo laden? </a:t>
            </a:r>
            <a:r>
              <a:rPr sz="1300">
                <a:solidFill>
                  <a:srgbClr val="8C909C"/>
                </a:solidFill>
                <a:latin typeface="Bahnschrift"/>
              </a:rPr>
              <a:t>Hugging Face! Die weltweite Plattform für Open Weights. Wer lädt neue Modelle am schnellsten hoch? Das schauen wir uns gleich 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1_wen_ggu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536192"/>
            <a:ext cx="3456432" cy="2194560"/>
          </a:xfrm>
          <a:prstGeom prst="rect">
            <a:avLst/>
          </a:prstGeom>
        </p:spPr>
      </p:pic>
      <p:pic>
        <p:nvPicPr>
          <p:cNvPr id="8" name="Picture 7" descr="meme3_meme_arsen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31920"/>
            <a:ext cx="3456432" cy="224028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10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Quantisierungs-Mastery: Mythen, Fakten &amp; Die Goldene Regel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492240" cy="5073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dirty="0">
                <a:solidFill>
                  <a:srgbClr val="2EA043"/>
                </a:solidFill>
                <a:latin typeface="Bahnschrift"/>
              </a:rPr>
              <a:t>16-Bit → 8-Bit (Q8_0): </a:t>
            </a:r>
            <a:r>
              <a:rPr sz="1350" b="1" dirty="0" err="1">
                <a:solidFill>
                  <a:srgbClr val="2EA043"/>
                </a:solidFill>
                <a:latin typeface="Bahnschrift"/>
              </a:rPr>
              <a:t>Immer</a:t>
            </a:r>
            <a:r>
              <a:rPr sz="1350" b="1" dirty="0">
                <a:solidFill>
                  <a:srgbClr val="2EA043"/>
                </a:solidFill>
                <a:latin typeface="Bahnschrift"/>
              </a:rPr>
              <a:t> </a:t>
            </a:r>
            <a:r>
              <a:rPr sz="1350" b="1" dirty="0" err="1">
                <a:solidFill>
                  <a:srgbClr val="2EA043"/>
                </a:solidFill>
                <a:latin typeface="Bahnschrift"/>
              </a:rPr>
              <a:t>machen</a:t>
            </a:r>
            <a:r>
              <a:rPr sz="1350" b="1" dirty="0">
                <a:solidFill>
                  <a:srgbClr val="2EA043"/>
                </a:solidFill>
                <a:latin typeface="Bahnschrift"/>
              </a:rPr>
              <a:t>!
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Perplexitätsverlust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&lt; 0.05 PPL (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menschlich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ununterscheidbar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).
→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Halbiert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den VRAM/RAM-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Bedarf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und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verdoppelt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Bandbreiten-Effizienz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! F16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ist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reine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Verschwendung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F59E0B"/>
                </a:solidFill>
                <a:latin typeface="Bahnschrift"/>
              </a:rPr>
              <a:t>4-Bit (Q4_K_M): Der Sweet Spot!
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Reduktion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auf ~25% der FP16-Originalgröße.
→ Moderne Tensor Cores (Nvidia Ampere/Ada/Blackwell, Apple AMX)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bieten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optimierte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Matrix-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Pfade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für 4-Bit.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58A6FF"/>
                </a:solidFill>
                <a:latin typeface="Bahnschrift"/>
              </a:rPr>
              <a:t>KV-Cache </a:t>
            </a:r>
            <a:r>
              <a:rPr sz="1350" b="1" dirty="0" err="1">
                <a:solidFill>
                  <a:srgbClr val="58A6FF"/>
                </a:solidFill>
                <a:latin typeface="Bahnschrift"/>
              </a:rPr>
              <a:t>Quantisierung</a:t>
            </a:r>
            <a:r>
              <a:rPr sz="1350" b="1" dirty="0">
                <a:solidFill>
                  <a:srgbClr val="58A6FF"/>
                </a:solidFill>
                <a:latin typeface="Bahnschrift"/>
              </a:rPr>
              <a:t> (Q8_0 / Q4_0): Mehr </a:t>
            </a:r>
            <a:r>
              <a:rPr sz="1350" b="1" dirty="0" err="1">
                <a:solidFill>
                  <a:srgbClr val="58A6FF"/>
                </a:solidFill>
                <a:latin typeface="Bahnschrift"/>
              </a:rPr>
              <a:t>Kontext</a:t>
            </a:r>
            <a:r>
              <a:rPr sz="1350" b="1" dirty="0">
                <a:solidFill>
                  <a:srgbClr val="58A6FF"/>
                </a:solidFill>
                <a:latin typeface="Bahnschrift"/>
              </a:rPr>
              <a:t> </a:t>
            </a:r>
            <a:r>
              <a:rPr sz="1350" b="1" dirty="0" err="1">
                <a:solidFill>
                  <a:srgbClr val="58A6FF"/>
                </a:solidFill>
                <a:latin typeface="Bahnschrift"/>
              </a:rPr>
              <a:t>bei</a:t>
            </a:r>
            <a:r>
              <a:rPr sz="1350" b="1" dirty="0">
                <a:solidFill>
                  <a:srgbClr val="58A6FF"/>
                </a:solidFill>
                <a:latin typeface="Bahnschrift"/>
              </a:rPr>
              <a:t> </a:t>
            </a:r>
            <a:r>
              <a:rPr sz="1350" b="1" dirty="0" err="1">
                <a:solidFill>
                  <a:srgbClr val="58A6FF"/>
                </a:solidFill>
                <a:latin typeface="Bahnschrift"/>
              </a:rPr>
              <a:t>halbem</a:t>
            </a:r>
            <a:r>
              <a:rPr sz="1350" b="1" dirty="0">
                <a:solidFill>
                  <a:srgbClr val="58A6FF"/>
                </a:solidFill>
                <a:latin typeface="Bahnschrift"/>
              </a:rPr>
              <a:t> VRAM!
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Nicht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nur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Modellgewichte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auch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der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Kontext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lässt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sich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quantisieren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! `-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ctk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q8_0 -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ctv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q8_0`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halbiert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den Cache-VRAM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bei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langen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Kontexten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(z. B. 32k+)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ohne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spürbaren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Qualitätsverlust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CDD0DA"/>
                </a:solidFill>
                <a:latin typeface="Bahnschrift"/>
              </a:rPr>
              <a:t>5-Bit &amp; 6-Bit: </a:t>
            </a:r>
            <a:r>
              <a:rPr sz="1350" b="1" dirty="0" err="1">
                <a:solidFill>
                  <a:srgbClr val="CDD0DA"/>
                </a:solidFill>
                <a:latin typeface="Bahnschrift"/>
              </a:rPr>
              <a:t>Rechnerisch</a:t>
            </a:r>
            <a:r>
              <a:rPr sz="1350" b="1" dirty="0">
                <a:solidFill>
                  <a:srgbClr val="CDD0DA"/>
                </a:solidFill>
                <a:latin typeface="Bahnschrift"/>
              </a:rPr>
              <a:t> </a:t>
            </a:r>
            <a:r>
              <a:rPr sz="1350" b="1" dirty="0" err="1">
                <a:solidFill>
                  <a:srgbClr val="CDD0DA"/>
                </a:solidFill>
                <a:latin typeface="Bahnschrift"/>
              </a:rPr>
              <a:t>ineffizient</a:t>
            </a:r>
            <a:r>
              <a:rPr sz="1350" b="1" dirty="0">
                <a:solidFill>
                  <a:srgbClr val="CDD0DA"/>
                </a:solidFill>
                <a:latin typeface="Bahnschrift"/>
              </a:rPr>
              <a:t> (</a:t>
            </a:r>
            <a:r>
              <a:rPr sz="1350" b="1" dirty="0" err="1">
                <a:solidFill>
                  <a:srgbClr val="CDD0DA"/>
                </a:solidFill>
                <a:latin typeface="Bahnschrift"/>
              </a:rPr>
              <a:t>Notlösung</a:t>
            </a:r>
            <a:r>
              <a:rPr sz="1350" b="1" dirty="0">
                <a:solidFill>
                  <a:srgbClr val="CDD0DA"/>
                </a:solidFill>
                <a:latin typeface="Bahnschrift"/>
              </a:rPr>
              <a:t>)
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Hardware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rechnet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in 2er-Potenzen (4, 8, 16). 5- und 6-Bit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müssen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zur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Laufzeit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bitgepackt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entpackt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werden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. Nur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sinnvoll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wenn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Q8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knapp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nicht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in den VRAM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passt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350" b="1" dirty="0" err="1">
                <a:solidFill>
                  <a:srgbClr val="DA3633"/>
                </a:solidFill>
                <a:latin typeface="Bahnschrift"/>
              </a:rPr>
              <a:t>Unter</a:t>
            </a:r>
            <a:r>
              <a:rPr sz="1350" b="1" dirty="0">
                <a:solidFill>
                  <a:srgbClr val="DA3633"/>
                </a:solidFill>
                <a:latin typeface="Bahnschrift"/>
              </a:rPr>
              <a:t> 4-Bit (Q2, Q3): Finger </a:t>
            </a:r>
            <a:r>
              <a:rPr sz="1350" b="1" dirty="0" err="1">
                <a:solidFill>
                  <a:srgbClr val="DA3633"/>
                </a:solidFill>
                <a:latin typeface="Bahnschrift"/>
              </a:rPr>
              <a:t>weg</a:t>
            </a:r>
            <a:r>
              <a:rPr sz="1350" b="1" dirty="0">
                <a:solidFill>
                  <a:srgbClr val="DA3633"/>
                </a:solidFill>
                <a:latin typeface="Bahnschrift"/>
              </a:rPr>
              <a:t> in Production!
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Dramatischer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Qualitätsabsturz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('Perplexity Cliff'):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Halluzinationen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Syntaxfehler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im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Code und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logische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Repetitionen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nehmen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massiv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zu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350" b="1" dirty="0" err="1">
                <a:solidFill>
                  <a:srgbClr val="CDD0DA"/>
                </a:solidFill>
                <a:latin typeface="Bahnschrift"/>
              </a:rPr>
              <a:t>Faustformel</a:t>
            </a:r>
            <a:r>
              <a:rPr sz="1350" b="1" dirty="0">
                <a:solidFill>
                  <a:srgbClr val="CDD0DA"/>
                </a:solidFill>
                <a:latin typeface="Bahnschrift"/>
              </a:rPr>
              <a:t>:
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Größeres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Modell in 4-Bit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schlägt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150" dirty="0" err="1">
                <a:solidFill>
                  <a:srgbClr val="8C909C"/>
                </a:solidFill>
                <a:latin typeface="Bahnschrift"/>
              </a:rPr>
              <a:t>kleineres</a:t>
            </a:r>
            <a:r>
              <a:rPr sz="1150" dirty="0">
                <a:solidFill>
                  <a:srgbClr val="8C909C"/>
                </a:solidFill>
                <a:latin typeface="Bahnschrift"/>
              </a:rPr>
              <a:t> Modell in 8-Bit!
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eme4_glm4_ggu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273552" cy="2240280"/>
          </a:xfrm>
          <a:prstGeom prst="rect">
            <a:avLst/>
          </a:prstGeom>
        </p:spPr>
      </p:pic>
      <p:pic>
        <p:nvPicPr>
          <p:cNvPr id="8" name="Picture 7" descr="meme2_careful_gguf_quant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931920"/>
            <a:ext cx="3273552" cy="2194560"/>
          </a:xfrm>
          <a:prstGeom prst="rect">
            <a:avLst/>
          </a:prstGeom>
        </p:spPr>
      </p:pic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r:id="rId10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GGUF-Quellen auf Hugging Face: Unsloth &amp; Underdog AesSedai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335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 b="1">
                <a:solidFill>
                  <a:srgbClr val="58A6FF"/>
                </a:solidFill>
                <a:latin typeface="Bahnschrift"/>
              </a:defRPr>
            </a:pPr>
            <a:r>
              <a:rPr dirty="0"/>
              <a:t>DER PLATZHIRSCH: UNSLOTH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Repo: 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huggingface.co/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unsloth</a:t>
            </a:r>
            <a:endParaRPr lang="de-DE" sz="1600" dirty="0">
              <a:solidFill>
                <a:srgbClr val="8C909C"/>
              </a:solidFill>
              <a:latin typeface="Bahnschrift"/>
            </a:endParaRP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Das 'Release-Radar':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Sobald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Meta, Mistral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oder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Qwen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neue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Gewichte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droppen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, hat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Unsloth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oft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nach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30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Minuten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saubere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GGUFs online.</a:t>
            </a:r>
          </a:p>
          <a:p>
            <a:pPr>
              <a:spcAft>
                <a:spcPts val="1000"/>
              </a:spcAft>
            </a:pPr>
            <a:r>
              <a:rPr sz="1600" b="1" dirty="0" err="1">
                <a:solidFill>
                  <a:srgbClr val="F5F5F7"/>
                </a:solidFill>
                <a:latin typeface="Bahnschrift"/>
              </a:rPr>
              <a:t>Spezialität</a:t>
            </a:r>
            <a:r>
              <a:rPr sz="1600" b="1" dirty="0">
                <a:solidFill>
                  <a:srgbClr val="F5F5F7"/>
                </a:solidFill>
                <a:latin typeface="Bahnschrift"/>
              </a:rPr>
              <a:t>: 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Dynamic Quants (z. B. Q4_K_M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mit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partiellen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FP16/Q8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Layern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an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kritischen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Stellen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) für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minimalen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Perplexitätsverlust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Tipp: 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Ideal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als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erste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Anlaufstelle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, um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zu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prüfen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welche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neuen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Modelle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gerade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die Open-Source-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Szene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aufmischen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376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 b="1">
                <a:solidFill>
                  <a:srgbClr val="BB80F7"/>
                </a:solidFill>
                <a:latin typeface="Bahnschrift"/>
              </a:defRPr>
            </a:pPr>
            <a:r>
              <a:rPr dirty="0"/>
              <a:t>DER GENIALE UNDERDOG: AESSEDAI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Repo: 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huggingface.co/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AesSedai</a:t>
            </a:r>
            <a:endParaRPr sz="1600" dirty="0">
              <a:solidFill>
                <a:srgbClr val="8C909C"/>
              </a:solidFill>
              <a:latin typeface="Bahnschrift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Underdog-Story: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Ähnlich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herausragende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Qualität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wie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Unsloth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wird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aber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oft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übersehen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,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weil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die Community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nicht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so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gigantisch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ist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Der FP8-VRAM-Hack: 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Normalerweise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werden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 Vision Projector Files (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mmproj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-*.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gguf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) 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nur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 in BF16/FP16 </a:t>
            </a:r>
            <a:r>
              <a:rPr sz="1600" dirty="0" err="1">
                <a:solidFill>
                  <a:srgbClr val="F59E0B"/>
                </a:solidFill>
                <a:latin typeface="Bahnschrift"/>
              </a:rPr>
              <a:t>bereitgestellt</a:t>
            </a:r>
            <a:r>
              <a:rPr sz="1600" dirty="0">
                <a:solidFill>
                  <a:srgbClr val="F59E0B"/>
                </a:solidFill>
                <a:latin typeface="Bahnschrift"/>
              </a:rPr>
              <a:t> (1–3 GB extra VRAM). </a:t>
            </a:r>
            <a:r>
              <a:rPr sz="1600" b="1" dirty="0" err="1">
                <a:solidFill>
                  <a:srgbClr val="F59E0B"/>
                </a:solidFill>
                <a:latin typeface="Bahnschrift"/>
              </a:rPr>
              <a:t>AesSedai</a:t>
            </a:r>
            <a:r>
              <a:rPr sz="1600" b="1" dirty="0">
                <a:solidFill>
                  <a:srgbClr val="F59E0B"/>
                </a:solidFill>
                <a:latin typeface="Bahnschrift"/>
              </a:rPr>
              <a:t> </a:t>
            </a:r>
            <a:r>
              <a:rPr sz="1600" b="1" dirty="0" err="1">
                <a:solidFill>
                  <a:srgbClr val="F59E0B"/>
                </a:solidFill>
                <a:latin typeface="Bahnschrift"/>
              </a:rPr>
              <a:t>liefert</a:t>
            </a:r>
            <a:r>
              <a:rPr sz="1600" b="1" dirty="0">
                <a:solidFill>
                  <a:srgbClr val="F59E0B"/>
                </a:solidFill>
                <a:latin typeface="Bahnschrift"/>
              </a:rPr>
              <a:t> </a:t>
            </a:r>
            <a:r>
              <a:rPr sz="1600" b="1" dirty="0" err="1">
                <a:solidFill>
                  <a:srgbClr val="F59E0B"/>
                </a:solidFill>
                <a:latin typeface="Bahnschrift"/>
              </a:rPr>
              <a:t>eine</a:t>
            </a:r>
            <a:r>
              <a:rPr sz="1600" b="1" dirty="0">
                <a:solidFill>
                  <a:srgbClr val="F59E0B"/>
                </a:solidFill>
                <a:latin typeface="Bahnschrift"/>
              </a:rPr>
              <a:t> FP8-Version der </a:t>
            </a:r>
            <a:r>
              <a:rPr sz="1600" b="1" dirty="0" err="1">
                <a:solidFill>
                  <a:srgbClr val="F59E0B"/>
                </a:solidFill>
                <a:latin typeface="Bahnschrift"/>
              </a:rPr>
              <a:t>mmproj</a:t>
            </a:r>
            <a:r>
              <a:rPr sz="1600" b="1" dirty="0">
                <a:solidFill>
                  <a:srgbClr val="F59E0B"/>
                </a:solidFill>
                <a:latin typeface="Bahnschrift"/>
              </a:rPr>
              <a:t>-Files </a:t>
            </a:r>
            <a:r>
              <a:rPr sz="1600" b="1" dirty="0" err="1">
                <a:solidFill>
                  <a:srgbClr val="F59E0B"/>
                </a:solidFill>
                <a:latin typeface="Bahnschrift"/>
              </a:rPr>
              <a:t>mit</a:t>
            </a:r>
            <a:r>
              <a:rPr sz="1600" b="1" dirty="0">
                <a:solidFill>
                  <a:srgbClr val="F59E0B"/>
                </a:solidFill>
                <a:latin typeface="Bahnschrift"/>
              </a:rPr>
              <a:t>!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F5F5F7"/>
                </a:solidFill>
                <a:latin typeface="Bahnschrift"/>
              </a:rPr>
              <a:t>Mix &amp; Match: 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Die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schlanken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FP8-Vision-Dateien von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AesSedai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sind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meist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100%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kompatibel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mit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 den </a:t>
            </a:r>
            <a:r>
              <a:rPr sz="1600" dirty="0" err="1">
                <a:solidFill>
                  <a:srgbClr val="8C909C"/>
                </a:solidFill>
                <a:latin typeface="Bahnschrift"/>
              </a:rPr>
              <a:t>Unsloth-Sprachmodellen</a:t>
            </a:r>
            <a:r>
              <a:rPr sz="1600" dirty="0">
                <a:solidFill>
                  <a:srgbClr val="8C909C"/>
                </a:solidFill>
                <a:latin typeface="Bahnschrift"/>
              </a:rPr>
              <a:t>!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628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00" dirty="0">
                <a:solidFill>
                  <a:srgbClr val="F5F5F7"/>
                </a:solidFill>
                <a:latin typeface="Bahnschrift"/>
              </a:rPr>
              <a:t>Modell-Check bei Unsloth starten → Bei Vision-Modellen zu AesSedai wechseln und das FP8-mmproj laden → Wertvollen VRAM sparen und flüssiger arbeiten!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GitHub-Releases entschlüsselt: Windows &amp; 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wnload_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DIE GOLDENEN REGELN FÜR WINDOWS &amp; LINUX: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NVIDIA (RTX 50xx / Blackwell): </a:t>
            </a:r>
            <a:r>
              <a:rPr sz="1200">
                <a:solidFill>
                  <a:srgbClr val="8C909C"/>
                </a:solidFill>
                <a:latin typeface="Bahnschrift"/>
              </a:rPr>
              <a:t>CUDA 13.4 Release wählen (z. B. win-cuda-13.4-x64.zip).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NVIDIA (RTX 40xx / 30xx / 20xx): </a:t>
            </a:r>
            <a:r>
              <a:rPr sz="1200">
                <a:solidFill>
                  <a:srgbClr val="8C909C"/>
                </a:solidFill>
                <a:latin typeface="Bahnschrift"/>
              </a:rPr>
              <a:t>CUDA 12.8 Release wählen (stabilste Performance).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DA3633"/>
                </a:solidFill>
                <a:latin typeface="Bahnschrift"/>
              </a:rPr>
              <a:t>DER CUDART-FEHLER:
</a:t>
            </a:r>
            <a:r>
              <a:rPr sz="1200">
                <a:solidFill>
                  <a:srgbClr val="F5F5F7"/>
                </a:solidFill>
                <a:latin typeface="Bahnschrift"/>
              </a:rPr>
              <a:t>Nvidia-Builds erfordern ZWEI Archive: Das Binary-Archiv UND cudart-...zip! Beide in denselben Ordner entpacken!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Linux / Ubuntu: </a:t>
            </a:r>
            <a:r>
              <a:rPr sz="1200">
                <a:solidFill>
                  <a:srgbClr val="8C909C"/>
                </a:solidFill>
                <a:latin typeface="Bahnschrift"/>
              </a:rPr>
              <a:t>Exakt dieselbe Logik: ubuntu-cuda-12.8-x64.tar.gz + cudart.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AMD Radeon (Linux): </a:t>
            </a:r>
            <a:r>
              <a:rPr sz="1200">
                <a:solidFill>
                  <a:srgbClr val="8C909C"/>
                </a:solidFill>
                <a:latin typeface="Bahnschrift"/>
              </a:rPr>
              <a:t>ROCm 10.0 Archive nutzen (kein CUDA nötig).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Ohne dedizierte GPU: </a:t>
            </a:r>
            <a:r>
              <a:rPr sz="1200">
                <a:solidFill>
                  <a:srgbClr val="8C909C"/>
                </a:solidFill>
                <a:latin typeface="Bahnschrift"/>
              </a:rPr>
              <a:t>Immer das CPU-Build mit AVX2/AVX512 Support wählen!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Apple Silicon, Mobile &amp; Edge: Mac, iOS &amp;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wnload_apple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DIE MOBILE &amp; APPLE SUPERKRÄFTE: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macOS Apple Silicon (M1–M5):
</a:t>
            </a:r>
            <a:r>
              <a:rPr sz="1200">
                <a:solidFill>
                  <a:srgbClr val="8C909C"/>
                </a:solidFill>
                <a:latin typeface="Bahnschrift"/>
              </a:rPr>
              <a:t>llama-bin-macos-arm64.tar.gz herunterladen. Metal ist standardmäßig aktiviert!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Unified Memory Vorteil: </a:t>
            </a:r>
            <a:r>
              <a:rPr sz="1200">
                <a:solidFill>
                  <a:srgbClr val="8C909C"/>
                </a:solidFill>
                <a:latin typeface="Bahnschrift"/>
              </a:rPr>
              <a:t>CPU und GPU teilen sich denselben 128 GB RAM-Pool – 70B Modelle laufen ohne PCIe-Flaschenhals!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iOS App: Pocket AI Lab:
</a:t>
            </a:r>
            <a:r>
              <a:rPr sz="1200">
                <a:solidFill>
                  <a:srgbClr val="8C909C"/>
                </a:solidFill>
                <a:latin typeface="Bahnschrift"/>
              </a:rPr>
              <a:t>Kostenlose App für iPhone &amp; iPad. Ermöglicht das Laden eigener GGUF-Dateien mit nativer Metal-Beschleunigung.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Android: LM Playground: </a:t>
            </a:r>
            <a:r>
              <a:rPr sz="1200">
                <a:solidFill>
                  <a:srgbClr val="8C909C"/>
                </a:solidFill>
                <a:latin typeface="Bahnschrift"/>
              </a:rPr>
              <a:t>Freie, Open-Source Android App (lmplayground.app). Nutzt Snapdragon NPU &amp; Adreno GPU via Vulkan.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Snapdragon X Elite / Laptops: </a:t>
            </a:r>
            <a:r>
              <a:rPr sz="1200">
                <a:solidFill>
                  <a:srgbClr val="8C909C"/>
                </a:solidFill>
                <a:latin typeface="Bahnschrift"/>
              </a:rPr>
              <a:t>Eigene Binaries mit Hexagon NPU-Unterstützung verfügbar!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9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In 3 Schritten starten &amp; Die wichtigsten CLI-Flags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23444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  <a:latin typeface="Bahnschrift"/>
              </a:defRPr>
            </a:pPr>
            <a:r>
              <a:t>IN 3 SCHRITTEN ZUM STARTKLAREN LLM-SERVER:</a:t>
            </a:r>
          </a:p>
          <a:p>
            <a:r>
              <a:rPr sz="1250" b="1">
                <a:solidFill>
                  <a:srgbClr val="F5F5F7"/>
                </a:solidFill>
                <a:latin typeface="Bahnschrift"/>
              </a:rPr>
              <a:t>1. ZIP entpacken: </a:t>
            </a:r>
            <a:r>
              <a:rPr sz="1200">
                <a:solidFill>
                  <a:srgbClr val="8C909C"/>
                </a:solidFill>
                <a:latin typeface="Bahnschrift"/>
              </a:rPr>
              <a:t>Release-Archiv herunterladen und in einen beliebigen Ordner entpacken (z. B. C:\llama oder ~/llama).</a:t>
            </a:r>
          </a:p>
          <a:p>
            <a:r>
              <a:rPr sz="1250" b="1">
                <a:solidFill>
                  <a:srgbClr val="F5F5F7"/>
                </a:solidFill>
                <a:latin typeface="Bahnschrift"/>
              </a:rPr>
              <a:t>2. GGUF ablegen: </a:t>
            </a:r>
            <a:r>
              <a:rPr sz="1200">
                <a:solidFill>
                  <a:srgbClr val="8C909C"/>
                </a:solidFill>
                <a:latin typeface="Bahnschrift"/>
              </a:rPr>
              <a:t>Gewünschtes Modell von HuggingFace (z. B. via Unsloth oder AesSedai) direkt daneben speichern.</a:t>
            </a:r>
          </a:p>
          <a:p>
            <a:r>
              <a:rPr sz="1250" b="1">
                <a:solidFill>
                  <a:srgbClr val="F5F5F7"/>
                </a:solidFill>
                <a:latin typeface="Bahnschrift"/>
              </a:rPr>
              <a:t>3. Server starten: </a:t>
            </a:r>
            <a:r>
              <a:rPr sz="1200">
                <a:solidFill>
                  <a:srgbClr val="2EA043"/>
                </a:solidFill>
                <a:latin typeface="Consolas"/>
              </a:rPr>
              <a:t>./llama-server -m qwen27b.gguf -c 8192 -ctk q8_0 -ctv q8_0 --port 8080 (Fertig! WebUI &amp; API aktiv).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74320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Flag / Parameter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Empfohlener Wert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Funktion &amp; Performance-Impact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-m / --model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pfad/zum/modell.gguf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Pfad zur GGUF-Datei (Single-File Container mit Gewichten &amp; Tokenizer).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-c / --ctx-size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8192 (oder 32768)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Kontextgröße in Tokens. llama.cpp allokiert den KV-Cache exakt passend dazu.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-ctk / -ctv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q8_0 (für Key &amp; Value)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KV-Cache Quantisierung: Halbiert den VRAM-Bedarf langer Kontexte ohne Qualitätsverlust!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--mmproj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pfad/zum/mmproj.gguf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Multi-Modal Projector: Lädt Vision- &amp; Audio-Encoder (Tipp: FP8 von AesSedai spart VRAM!).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-md / --draft-model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pfad/zum/drafter.gguf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Speculative Decoding / MTP: Nutzt kleines Drafter-Modell für 2–3x Speedup (v. a. Dense-Modelle).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-t / --threads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Anzahl physischer CPU-Kerne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CPU-Worker Threads. Regel: Niemals Hyperthreading-Kerne mitzählen (vermeidet Latenz-Spikes).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--port / --host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--port 8080 --host 0.0.0.0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Startet sofort eine OpenAI-kompatible REST-API + eingebaute WebUI im lokalen Netzwerk.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8" name="Rectangle 7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9" name="Rectangle 8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0" name="Rectangle 9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1" name="Rectangle 10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2" name="Rectangle 11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Zusatzmodelle: Vision (--mmproj) &amp; Turbo mit Draft / MTP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VISION-MODELLE: DAS 2-DATEIEN-PRINZIP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Warum zwei Dateien? </a:t>
            </a:r>
            <a:r>
              <a:rPr sz="1250">
                <a:solidFill>
                  <a:srgbClr val="8C909C"/>
                </a:solidFill>
                <a:latin typeface="Bahnschrift"/>
              </a:rPr>
              <a:t>Sprachmodell (model.gguf) und Vision Projector (mmproj-*.gguf) sind getrennt.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Der Startbefehl:
</a:t>
            </a:r>
            <a:r>
              <a:rPr sz="1250">
                <a:solidFill>
                  <a:srgbClr val="2EA043"/>
                </a:solidFill>
                <a:latin typeface="Consolas"/>
              </a:rPr>
              <a:t>./llama-server -m llama3-vision.gguf --mmproj mmproj-model-f16.gguf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Die Superkraft: </a:t>
            </a:r>
            <a:r>
              <a:rPr sz="1250">
                <a:solidFill>
                  <a:srgbClr val="8C909C"/>
                </a:solidFill>
                <a:latin typeface="Bahnschrift"/>
              </a:rPr>
              <a:t>Volle OCR-, Dokumenten- &amp; Bildanalyse lokal auf dem Rechner. DSGVO-konform für sensible Belege!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Geheimtipp AesSedai: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das FP8-quantisierte mmproj von AesSedai auf HuggingFace! Spart VRAM und läuft genauso akkurat.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Native Alternative: </a:t>
            </a:r>
            <a:r>
              <a:rPr sz="1250">
                <a:solidFill>
                  <a:srgbClr val="8C909C"/>
                </a:solidFill>
                <a:latin typeface="Bahnschrift"/>
              </a:rPr>
              <a:t>Google Gemma 4 bringt Audio + Vision direkt integriert mit!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58A6FF"/>
                </a:solidFill>
                <a:latin typeface="Bahnschrift"/>
              </a:defRPr>
            </a:pPr>
            <a:r>
              <a:t>TURBO-INFERENZ: SPECULATIVE DECODING &amp; MTP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Das Problem: </a:t>
            </a:r>
            <a:r>
              <a:rPr sz="1200">
                <a:solidFill>
                  <a:srgbClr val="8C909C"/>
                </a:solidFill>
                <a:latin typeface="Bahnschrift"/>
              </a:rPr>
              <a:t>Große Modelle sind Memory-Bandwidth-bound (jedes Token liest alle Gewichte neu ein).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Die Lösung (Draft Model): </a:t>
            </a:r>
            <a:r>
              <a:rPr sz="1200">
                <a:solidFill>
                  <a:srgbClr val="8C909C"/>
                </a:solidFill>
                <a:latin typeface="Bahnschrift"/>
              </a:rPr>
              <a:t>Ein winziges Draft-Modell (z. B. 0.5B) generiert 5 Token-Vorschläge blitzschnell.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Verifikation im Pulk: </a:t>
            </a:r>
            <a:r>
              <a:rPr sz="1200">
                <a:solidFill>
                  <a:srgbClr val="8C909C"/>
                </a:solidFill>
                <a:latin typeface="Bahnschrift"/>
              </a:rPr>
              <a:t>Das große Zielmodell (z. B. 27B) prüft alle 5 Tokens in EINEM EINZIGEN Vorwärtsdurchlauf!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Startflag in llama.cpp:
</a:t>
            </a:r>
            <a:r>
              <a:rPr sz="1200">
                <a:solidFill>
                  <a:srgbClr val="F59E0B"/>
                </a:solidFill>
                <a:latin typeface="Consolas"/>
              </a:rPr>
              <a:t>./llama-server -m qwen27b.gguf -md qwen0.5b.gguf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MTP (Multi-Token Prediction): </a:t>
            </a:r>
            <a:r>
              <a:rPr sz="1200">
                <a:solidFill>
                  <a:srgbClr val="8C909C"/>
                </a:solidFill>
                <a:latin typeface="Bahnschrift"/>
              </a:rPr>
              <a:t>Moderne Architekturen wie DeepSeek bringen eigene MTP-Heads mit – kein zweites Modell nötig!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Ergebnis: </a:t>
            </a:r>
            <a:r>
              <a:rPr sz="1200">
                <a:solidFill>
                  <a:srgbClr val="8C909C"/>
                </a:solidFill>
                <a:latin typeface="Bahnschrift"/>
              </a:rPr>
              <a:t>1.5x bis 2.5x höhere Generierungsrate bei mathematisch exakt identischem Output!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LIVE-DEMO: llama-server in Action &amp; API-Drop-In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0936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EA043"/>
                </a:solidFill>
                <a:latin typeface="Bahnschrift"/>
              </a:defRPr>
            </a:pPr>
            <a:r>
              <a:t>DER LIVE-DEMO ABLAUF (3 MINUTEN):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1. Terminal-Start: </a:t>
            </a:r>
            <a:r>
              <a:rPr sz="1200">
                <a:solidFill>
                  <a:srgbClr val="2EA043"/>
                </a:solidFill>
                <a:latin typeface="Consolas"/>
              </a:rPr>
              <a:t>./llama-server -m qwen27b.gguf -c 8192 -ctk q8_0 -ctv q8_0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2. Log-Inspektion: </a:t>
            </a:r>
            <a:r>
              <a:rPr sz="1200">
                <a:solidFill>
                  <a:srgbClr val="8C909C"/>
                </a:solidFill>
                <a:latin typeface="Bahnschrift"/>
              </a:rPr>
              <a:t>mmap Ladezeit (&lt;1s!), VRAM-Allokation, Token-Timings in der Konsole.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3. WebUI im Browser: </a:t>
            </a:r>
            <a:r>
              <a:rPr sz="1200">
                <a:solidFill>
                  <a:srgbClr val="2EA043"/>
                </a:solidFill>
                <a:latin typeface="Consolas"/>
              </a:rPr>
              <a:t>Aufruf von http://localhost:8080 – sofort fertige Chat-Oberfläche.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4. Prompt-Caching: </a:t>
            </a:r>
            <a:r>
              <a:rPr sz="1200">
                <a:solidFill>
                  <a:srgbClr val="8C909C"/>
                </a:solidFill>
                <a:latin typeface="Bahnschrift"/>
              </a:rPr>
              <a:t>Zweite Frage: Cache spart Prompt-Rechenzeit komplett ein!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5. OpenAI Drop-In API: </a:t>
            </a:r>
            <a:r>
              <a:rPr sz="1200">
                <a:solidFill>
                  <a:srgbClr val="2EA043"/>
                </a:solidFill>
                <a:latin typeface="Consolas"/>
              </a:rPr>
              <a:t>http://localhost:8080/v1 – Jedes Tool funktioniert sofort: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  • Coding in IDEs: </a:t>
            </a:r>
            <a:r>
              <a:rPr sz="1200">
                <a:solidFill>
                  <a:srgbClr val="8C909C"/>
                </a:solidFill>
                <a:latin typeface="Bahnschrift"/>
              </a:rPr>
              <a:t>Continue.dev (VS Code &amp; JetBrains), Cursor, Cline / Roo Code, Windsurf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  • Chat &amp; Knowledge: </a:t>
            </a:r>
            <a:r>
              <a:rPr sz="1200">
                <a:solidFill>
                  <a:srgbClr val="8C909C"/>
                </a:solidFill>
                <a:latin typeface="Bahnschrift"/>
              </a:rPr>
              <a:t>Open-WebUI, LibreChat, AnythingLLM, Jan.ai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  • SDKs &amp; Notizen: </a:t>
            </a:r>
            <a:r>
              <a:rPr sz="1200">
                <a:solidFill>
                  <a:srgbClr val="8C909C"/>
                </a:solidFill>
                <a:latin typeface="Bahnschrift"/>
              </a:rPr>
              <a:t>Python openai SDK (base_url), Obsidian Copilot, LangChain, LiteLLM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23641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1536192"/>
            <a:ext cx="3870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DIE PUBLIKUMS-WETTE: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Frage ans Publikum: </a:t>
            </a:r>
            <a:r>
              <a:rPr sz="1350">
                <a:solidFill>
                  <a:srgbClr val="8C909C"/>
                </a:solidFill>
                <a:latin typeface="Bahnschrift"/>
              </a:rPr>
              <a:t>Wie viele Tokens/s schafft das Modell auf dieser Maschine?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Typische Schätzungen: </a:t>
            </a:r>
            <a:r>
              <a:rPr sz="1350">
                <a:solidFill>
                  <a:srgbClr val="8C909C"/>
                </a:solidFill>
                <a:latin typeface="Bahnschrift"/>
              </a:rPr>
              <a:t>„5–10 T/s? Ist ja lokal...“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Die Realität:
</a:t>
            </a:r>
            <a:r>
              <a:rPr sz="1350" b="1">
                <a:solidFill>
                  <a:srgbClr val="2EA043"/>
                </a:solidFill>
                <a:latin typeface="Bahnschrift"/>
              </a:rPr>
              <a:t>Auf modernem Laptop/GPU: 35–70+ Tokens/s! Schneller als das menschliche Auge lesen kann.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Prompt Processing vs. Gen: </a:t>
            </a:r>
            <a:r>
              <a:rPr sz="1350">
                <a:solidFill>
                  <a:srgbClr val="8C909C"/>
                </a:solidFill>
                <a:latin typeface="Bahnschrift"/>
              </a:rPr>
              <a:t>llama.cpp zeigt in den Logs genau an: Prompt eval time vs. Token generation time.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5F5F7"/>
                </a:solidFill>
                <a:latin typeface="Bahnschrift"/>
              </a:rPr>
              <a:t>Takeaway für Skeptiker: </a:t>
            </a:r>
            <a:r>
              <a:rPr sz="1350">
                <a:solidFill>
                  <a:srgbClr val="8C909C"/>
                </a:solidFill>
                <a:latin typeface="Bahnschrift"/>
              </a:rPr>
              <a:t>Lokale Inferenz fühlt sich heute flotter an als viele überlastete Cloud-APIs zur Peak-Zeit!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Der Architektur-Kompass &amp; Die 5 Goldenen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DER ARCHITEKTUR-KOMPASS: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Single-Stream / CPU / Mac / Lokale Tools:
</a:t>
            </a:r>
            <a:r>
              <a:rPr sz="1450" b="1">
                <a:solidFill>
                  <a:srgbClr val="F59E0B"/>
                </a:solidFill>
                <a:latin typeface="Bahnschrift"/>
              </a:rPr>
              <a:t>➔ llama.cpp  </a:t>
            </a:r>
            <a:r>
              <a:rPr sz="1200">
                <a:solidFill>
                  <a:srgbClr val="8C909C"/>
                </a:solidFill>
                <a:latin typeface="Bahnschrift"/>
              </a:rPr>
              <a:t>(Der unangefochtene König für schlanken Betrieb ohne GPU-Zwang.)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Riesen-MoE (DeepSeek) auf Heim-Hardware:
</a:t>
            </a:r>
            <a:r>
              <a:rPr sz="1450" b="1">
                <a:solidFill>
                  <a:srgbClr val="2EA043"/>
                </a:solidFill>
                <a:latin typeface="Bahnschrift"/>
              </a:rPr>
              <a:t>➔ K-Transformers  </a:t>
            </a:r>
            <a:r>
              <a:rPr sz="1200">
                <a:solidFill>
                  <a:srgbClr val="8C909C"/>
                </a:solidFill>
                <a:latin typeface="Bahnschrift"/>
              </a:rPr>
              <a:t>(Gewichte im DDR5-RAM, Rechenpfade auf 1-2 GPUs.)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High-Throughput Production-APIs:
</a:t>
            </a:r>
            <a:r>
              <a:rPr sz="1450" b="1">
                <a:solidFill>
                  <a:srgbClr val="2EA043"/>
                </a:solidFill>
                <a:latin typeface="Bahnschrift"/>
              </a:rPr>
              <a:t>➔ vLLM  </a:t>
            </a:r>
            <a:r>
              <a:rPr sz="1200">
                <a:solidFill>
                  <a:srgbClr val="8C909C"/>
                </a:solidFill>
                <a:latin typeface="Bahnschrift"/>
              </a:rPr>
              <a:t>(Continuous Batching &amp; PagedAttention für hunderte parallele Nutzer.)</a:t>
            </a:r>
          </a:p>
          <a:p>
            <a:pPr>
              <a:spcAft>
                <a:spcPts val="16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Agenten &amp; Structured Output Multi-Turn:
</a:t>
            </a:r>
            <a:r>
              <a:rPr sz="1450" b="1">
                <a:solidFill>
                  <a:srgbClr val="2EA043"/>
                </a:solidFill>
                <a:latin typeface="Bahnschrift"/>
              </a:rPr>
              <a:t>➔ SGLang  </a:t>
            </a:r>
            <a:r>
              <a:rPr sz="1200">
                <a:solidFill>
                  <a:srgbClr val="8C909C"/>
                </a:solidFill>
                <a:latin typeface="Bahnschrift"/>
              </a:rPr>
              <a:t>(RadixAttention für extreme KV-Cache-Wiederverwendung.)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EA043"/>
                </a:solidFill>
                <a:latin typeface="Bahnschrift"/>
              </a:defRPr>
            </a:pPr>
            <a:r>
              <a:t>5 ERKENNTNISSE ZUM MITNEHMEN: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1. llama.cpp ist Production-Ready: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Single-Stream, CPU, Mac und interne Tools die kostengünstigste Engine überhaupt.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2. Ollama meiden: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direkte Prebuilt-Binaries für volle Transparenz und planbare Latenz.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3. Immer 8-Bit statt 16-Bit: </a:t>
            </a:r>
            <a:r>
              <a:rPr sz="1250">
                <a:solidFill>
                  <a:srgbClr val="8C909C"/>
                </a:solidFill>
                <a:latin typeface="Bahnschrift"/>
              </a:rPr>
              <a:t>Q8_0 halbiert den RAM-Bedarf ohne messbaren Qualitätsverlust.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4. Größeres Modell @ 4-Bit &gt; Kleineres @ 8-Bit: </a:t>
            </a:r>
            <a:r>
              <a:rPr sz="1250">
                <a:solidFill>
                  <a:srgbClr val="8C909C"/>
                </a:solidFill>
                <a:latin typeface="Bahnschrift"/>
              </a:rPr>
              <a:t>Lieber 27B Q4 als 14B Q8 – Intelligenz maximieren!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F5F5F7"/>
                </a:solidFill>
                <a:latin typeface="Bahnschrift"/>
              </a:rPr>
              <a:t>5. Keine Angst vor C++: </a:t>
            </a:r>
            <a:r>
              <a:rPr sz="1250">
                <a:solidFill>
                  <a:srgbClr val="8C909C"/>
                </a:solidFill>
                <a:latin typeface="Bahnschrift"/>
              </a:rPr>
              <a:t>Download-Kompass nutzen, ZIP entpacken, GGUF reinlegen, ./llama-server starten!</a:t>
            </a:r>
          </a:p>
        </p:txBody>
      </p:sp>
      <p:sp>
        <p:nvSpPr>
          <p:cNvPr id="8" name="Rectangle 7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Handout, Ressourcen &amp; GitHub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38912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58A6FF"/>
                </a:solidFill>
                <a:latin typeface="Bahnschrift"/>
              </a:defRPr>
            </a:pPr>
            <a:r>
              <a:t>GITHUB REPO, CHEAT SHEETS &amp; GGUF-HUB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9E0B"/>
                </a:solidFill>
                <a:latin typeface="Bahnschrift"/>
              </a:rPr>
              <a:t>GitHub Repository: </a:t>
            </a:r>
            <a:r>
              <a:rPr sz="1200">
                <a:solidFill>
                  <a:srgbClr val="8C909C"/>
                </a:solidFill>
                <a:latin typeface="Bahnschrift"/>
              </a:rPr>
              <a:t>Vollständige Folien, Skripte, Benchmarks &amp; Cheat Sheets als Open-Source Repo.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Download-Kompass Handout: </a:t>
            </a:r>
            <a:r>
              <a:rPr sz="1200">
                <a:solidFill>
                  <a:srgbClr val="8C909C"/>
                </a:solidFill>
                <a:latin typeface="Bahnschrift"/>
              </a:rPr>
              <a:t>Druckfertiges A4-Querformat PDF: cheatsheets/handout.pdf im Repository.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F5F5F7"/>
                </a:solidFill>
                <a:latin typeface="Bahnschrift"/>
              </a:rPr>
              <a:t>GGUF &amp; Quant-Cheat Sheet: </a:t>
            </a:r>
            <a:r>
              <a:rPr sz="1200">
                <a:solidFill>
                  <a:srgbClr val="8C909C"/>
                </a:solidFill>
                <a:latin typeface="Bahnschrift"/>
              </a:rPr>
              <a:t>Kompakte Übersicht für VRAM-Rechnung, Sweet-Spots (Q4_K_M vs Q8) und CLI-Flags.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2EA043"/>
                </a:solidFill>
                <a:latin typeface="Bahnschrift"/>
              </a:rPr>
              <a:t>Unsloth AI (Hugging Face): </a:t>
            </a:r>
            <a:r>
              <a:rPr sz="1200">
                <a:solidFill>
                  <a:srgbClr val="8C909C"/>
                </a:solidFill>
                <a:latin typeface="Bahnschrift"/>
              </a:rPr>
              <a:t>huggingface.co/unsloth – Erste Anlaufstelle für brandneue GGUF-Drops &amp; optimierte Quants.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2EA043"/>
                </a:solidFill>
                <a:latin typeface="Bahnschrift"/>
              </a:rPr>
              <a:t>AesSedai (Underdog-Tipp): </a:t>
            </a:r>
            <a:r>
              <a:rPr sz="1200">
                <a:solidFill>
                  <a:srgbClr val="8C909C"/>
                </a:solidFill>
                <a:latin typeface="Bahnschrift"/>
              </a:rPr>
              <a:t>huggingface.co/AesSedai – Exklusive FP8 mmproj-Dateien (Vision/Audio) &amp; speichereffiziente Quants.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38912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OFFIZIELLE ENGINES, CLIENTS &amp; QUELLEN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llama.cpp Releases: </a:t>
            </a:r>
            <a:r>
              <a:rPr sz="1150">
                <a:solidFill>
                  <a:srgbClr val="8C909C"/>
                </a:solidFill>
                <a:latin typeface="Bahnschrift"/>
              </a:rPr>
              <a:t>github.com/ggml-org/llama.cpp/releases – Offizielle Binaries für Windows, macOS, Linux.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5F5F7"/>
                </a:solidFill>
                <a:latin typeface="Bahnschrift"/>
              </a:rPr>
              <a:t>ggml Core Library: </a:t>
            </a:r>
            <a:r>
              <a:rPr sz="1150">
                <a:solidFill>
                  <a:srgbClr val="8C909C"/>
                </a:solidFill>
                <a:latin typeface="Bahnschrift"/>
              </a:rPr>
              <a:t>github.com/ggml-org/ggml – Die Low-Level C/C++ Tensor-Engine hinter llama.cpp.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8A6FF"/>
                </a:solidFill>
                <a:latin typeface="Bahnschrift"/>
              </a:rPr>
              <a:t>Coding IDEs &amp; Agenten: </a:t>
            </a:r>
            <a:r>
              <a:rPr sz="1150">
                <a:solidFill>
                  <a:srgbClr val="8C909C"/>
                </a:solidFill>
                <a:latin typeface="Bahnschrift"/>
              </a:rPr>
              <a:t>Continue.dev (VS Code / JetBrains), Cursor, Cline / Roo Code, Windsurf.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8A6FF"/>
                </a:solidFill>
                <a:latin typeface="Bahnschrift"/>
              </a:rPr>
              <a:t>Lokale Web-UIs &amp; Chat: </a:t>
            </a:r>
            <a:r>
              <a:rPr sz="1150">
                <a:solidFill>
                  <a:srgbClr val="8C909C"/>
                </a:solidFill>
                <a:latin typeface="Bahnschrift"/>
              </a:rPr>
              <a:t>Open-WebUI (openwebui.com), LibreChat (librechat.ai), AnythingLLM.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59E0B"/>
                </a:solidFill>
                <a:latin typeface="Bahnschrift"/>
              </a:rPr>
              <a:t>Mobile Apps (GGUF offline): </a:t>
            </a:r>
            <a:r>
              <a:rPr sz="1150">
                <a:solidFill>
                  <a:srgbClr val="8C909C"/>
                </a:solidFill>
                <a:latin typeface="Bahnschrift"/>
              </a:rPr>
              <a:t>Pocket AI Lab (iOS) · LM Playground (Android).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CDD0DA"/>
                </a:solidFill>
                <a:latin typeface="Bahnschrift"/>
              </a:rPr>
              <a:t>Benchmarks &amp; Leaderboards: </a:t>
            </a:r>
            <a:r>
              <a:rPr sz="1150">
                <a:solidFill>
                  <a:srgbClr val="8C909C"/>
                </a:solidFill>
                <a:latin typeface="Bahnschrift"/>
              </a:rPr>
              <a:t>Artificial Analysis (artificialanalysis.ai) · LMSYS Arena (lmarena.ai).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934456"/>
            <a:ext cx="10454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A043"/>
                </a:solidFill>
                <a:latin typeface="Bahnschrift"/>
              </a:defRPr>
            </a:pPr>
            <a:r>
              <a:t>VIELEN DANK FÜR EURE AUFMERKSAMKEIT!  ·  ZEIT FÜR FRAGEN &amp; DISKUSSION</a:t>
            </a:r>
          </a:p>
        </p:txBody>
      </p:sp>
      <p:sp>
        <p:nvSpPr>
          <p:cNvPr id="10" name="Rectangle 9">
            <a:hlinkClick r:id="rId3" action="ppaction://hlinksldjump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r:id="rId4" action="ppaction://hlinksldjump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r:id="rId5" action="ppaction://hlinksldjump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r:id="rId6" action="ppaction://hlinksldjump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r:id="rId7" action="ppaction://hlinksldjump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r:id="rId8" action="ppaction://hlinksldjump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5481</Words>
  <Application>Microsoft Office PowerPoint</Application>
  <PresentationFormat>Widescreen</PresentationFormat>
  <Paragraphs>458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Bahnschrift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Arved Oberstraß</cp:lastModifiedBy>
  <cp:revision>2</cp:revision>
  <dcterms:created xsi:type="dcterms:W3CDTF">2013-01-27T09:14:16Z</dcterms:created>
  <dcterms:modified xsi:type="dcterms:W3CDTF">2026-10-05T08:44:34Z</dcterms:modified>
  <cp:category/>
</cp:coreProperties>
</file>